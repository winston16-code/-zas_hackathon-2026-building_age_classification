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87a46ae-469d-8b3f-cdd9-ba5dcc90940d}">
          <p14:sldIdLst>
            <p14:sldId id="256"/>
            <p14:sldId id="257"/>
            <p14:sldId id="258"/>
          </p14:sldIdLst>
        </p14:section>
        <p14:section name="Method" id="{05c6cd98-7e10-c08a-e630-a446326cb7dd}">
          <p14:sldIdLst>
            <p14:sldId id="259"/>
            <p14:sldId id="260"/>
          </p14:sldIdLst>
        </p14:section>
        <p14:section name="Results" id="{44347ab4-d044-0297-5753-babf7b5fd096}">
          <p14:sldIdLst>
            <p14:sldId id="261"/>
            <p14:sldId id="262"/>
            <p14:sldId id="263"/>
            <p14:sldId id="264"/>
            <p14:sldId id="265"/>
          </p14:sldIdLst>
        </p14:section>
        <p14:section name="Close" id="{8373a85c-8816-ba8e-12e1-ac1305a709a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Madrid macro F1 (spatial CV)</c:v>
                </c:pt>
              </c:strCache>
            </c:strRef>
          </c:tx>
          <c:spPr>
            <a:solidFill>
              <a:srgbClr val="8A94B8"/>
            </a:solidFill>
            <a:effectLst/>
          </c:spPr>
          <c:invertIfNegative val="0"/>
          <c:dLbls>
            <c:numFmt formatCode="0.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8A94B8"/>
              </a:solidFill>
              <a:effectLst/>
            </c:spPr>
          </c:dPt>
          <c:dPt>
            <c:idx val="1"/>
            <c:invertIfNegative val="0"/>
            <c:bubble3D val="0"/>
            <c:spPr>
              <a:solidFill>
                <a:srgbClr val="9D7BFF"/>
              </a:solidFill>
              <a:effectLst/>
            </c:spPr>
          </c:dPt>
          <c:dPt>
            <c:idx val="2"/>
            <c:invertIfNegative val="0"/>
            <c:bubble3D val="0"/>
            <c:spPr>
              <a:solidFill>
                <a:srgbClr val="9D7BFF"/>
              </a:solidFill>
              <a:effectLst/>
            </c:spPr>
          </c:dPt>
          <c:dPt>
            <c:idx val="3"/>
            <c:invertIfNegative val="0"/>
            <c:bubble3D val="0"/>
            <c:spPr>
              <a:solidFill>
                <a:srgbClr val="5CC8F0"/>
              </a:solidFill>
              <a:effectLst/>
            </c:spPr>
          </c:dPt>
          <c:dPt>
            <c:idx val="4"/>
            <c:invertIfNegative val="0"/>
            <c:bubble3D val="0"/>
            <c:spPr>
              <a:solidFill>
                <a:srgbClr val="9D7BFF"/>
              </a:solidFill>
              <a:effectLst/>
            </c:spPr>
          </c:dPt>
          <c:dPt>
            <c:idx val="5"/>
            <c:invertIfNegative val="0"/>
            <c:bubble3D val="0"/>
            <c:spPr>
              <a:solidFill>
                <a:srgbClr val="9D7BFF"/>
              </a:solidFill>
              <a:effectLst/>
            </c:spPr>
          </c:dPt>
          <c:dPt>
            <c:idx val="6"/>
            <c:invertIfNegative val="0"/>
            <c:bubble3D val="0"/>
            <c:spPr>
              <a:solidFill>
                <a:srgbClr val="9D7BFF"/>
              </a:solidFill>
              <a:effectLst/>
            </c:spPr>
          </c:dPt>
          <c:dPt>
            <c:idx val="7"/>
            <c:invertIfNegative val="0"/>
            <c:bubble3D val="0"/>
            <c:spPr>
              <a:solidFill>
                <a:srgbClr val="F2B33D"/>
              </a:solidFill>
              <a:effectLst/>
            </c:spPr>
          </c:dPt>
          <c:cat>
            <c:multiLvlStrRef>
              <c:f>Sheet1!$A$2:$A$9</c:f>
              <c:multiLvlStrCache>
                <c:ptCount val="8"/>
                <c:lvl>
                  <c:pt idx="0">
                    <c:v>Baseline (starter)</c:v>
                  </c:pt>
                  <c:pt idx="1">
                    <c:v>Logistic Reg.</c:v>
                  </c:pt>
                  <c:pt idx="2">
                    <c:v>MLP (GPU)</c:v>
                  </c:pt>
                  <c:pt idx="3">
                    <c:v>CatBoost</c:v>
                  </c:pt>
                  <c:pt idx="4">
                    <c:v>Random Forest</c:v>
                  </c:pt>
                  <c:pt idx="5">
                    <c:v>XGBoost</c:v>
                  </c:pt>
                  <c:pt idx="6">
                    <c:v>LightGBM</c:v>
                  </c:pt>
                  <c:pt idx="7">
                    <c:v>Ensemble</c:v>
                  </c:pt>
                </c:lvl>
              </c:multiLvlStrCache>
            </c:multiLvlStrRef>
          </c:cat>
          <c:val>
            <c:numRef>
              <c:f>Sheet1!$B$2:$B$9</c:f>
              <c:numCache>
                <c:formatCode>General</c:formatCode>
                <c:ptCount val="8"/>
                <c:pt idx="0">
                  <c:v>0.574</c:v>
                </c:pt>
                <c:pt idx="1">
                  <c:v>0.603</c:v>
                </c:pt>
                <c:pt idx="2">
                  <c:v>0.628</c:v>
                </c:pt>
                <c:pt idx="3">
                  <c:v>0.631</c:v>
                </c:pt>
                <c:pt idx="4">
                  <c:v>0.634</c:v>
                </c:pt>
                <c:pt idx="5">
                  <c:v>0.646</c:v>
                </c:pt>
                <c:pt idx="6">
                  <c:v>0.649</c:v>
                </c:pt>
                <c:pt idx="7">
                  <c:v>0.652</c:v>
                </c:pt>
              </c:numCache>
            </c:numRef>
          </c:val>
        </c:ser>
        <c:dLbls>
          <c:numFmt formatCode="0.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C9D3F5"/>
                </a:solidFill>
                <a:latin typeface="+mn-lt"/>
              </a:defRPr>
            </a:pPr>
            <a:endParaRPr lang="en-US"/>
          </a:p>
        </c:txPr>
        <c:crossAx val="2094734552"/>
        <c:crosses val="autoZero"/>
        <c:auto val="1"/>
        <c:lblAlgn val="ctr"/>
        <c:noMultiLvlLbl val="1"/>
      </c:catAx>
      <c:valAx>
        <c:axId val="2094734552"/>
        <c:scaling>
          <c:orientation val="minMax"/>
          <c:max val="0.68"/>
          <c:min val="0.5"/>
        </c:scaling>
        <c:delete val="0"/>
        <c:axPos val="b"/>
        <c:majorGridlines>
          <c:spPr>
            <a:ln w="6350" cap="flat">
              <a:solidFill>
                <a:srgbClr val="2A3366"/>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C9D3F5"/>
                </a:solidFill>
                <a:latin typeface="+mn-lt"/>
              </a:defRPr>
            </a:pPr>
            <a:endParaRPr lang="en-US"/>
          </a:p>
        </c:txPr>
        <c:crossAx val="2094734554"/>
        <c:crosses val="autoZero"/>
        <c:crossBetween val="between"/>
      </c:valAx>
      <c:spPr>
        <a:solidFill>
          <a:srgbClr val="0A0F2C">
            <a:alpha val="0"/>
          </a:srgbClr>
        </a:solidFill>
        <a:ln>
          <a:noFill/>
        </a:ln>
        <a:effectLst/>
      </c:spPr>
    </c:plotArea>
    <c:plotVisOnly val="1"/>
    <c:dispBlanksAs val="span"/>
  </c:chart>
  <c:spPr>
    <a:solidFill>
      <a:srgbClr val="0A0F2C">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PRECIOUS (GIS) · 0:00–0:30 · Introduce Group 2 and the four members, then the project in one breath: we read the age of buildings from 42 years of satellite images, learn it in Madrid and move it to Amsterdam with very few labels. Thank the organisers and partners on the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PRECIOUS (GIS) · 0:30–1:05 · Each pixel is a 30 m square; Landsat has imaged it every summer since 1984 in six bands. Classes 3 and 4 were built while the satellite was watching. The task: learn in Madrid, then adapt to Amsterdam with very few labelled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PRECIOUS (GIS) · 1:05–1:30 · Our data audit: three whole Landsat scenes were broken; photos come from all seasons; the starter kept only the first photo of each year; and age is strongly clustered by district. Fixing the input cut noise by almost half. Hand over to Prof Tanaka.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TANAKA (Physics) · 1:30–2:45 · Every material has a spectral fingerprint. When a building is erected the pixel's reflectance jumps: vegetation disappears, soil appears, then a new roof. Band ratios cancel illumination and sensor differences. The chart: newer classes show strong steps, older ones do not — even more clearly in Amsterdam. So we describe change, not brightness. Hand over to Natali.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NATALI (Computer science) · 2:45–4:15 · Five steps: clean the photos into one robust value per year; engineer 321 features without labels; scale each city on its own; train and compare models; validate honestly with 2 km spatial blocks and 10 random draws per sample size. Everything is reproducible: fixed seeds, CPU and GPU agree within 0.003, 18 minutes end to end, and the code can predict pixels it has never seen. Hand over to Winston.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(Data science) · 4:15–4:50 · We started from the organisers' baseline, a Random Forest at 0.574 under spatial validation. We tested six algorithms; gradient boosting won and an ensemble of LightGBM, XGBoost and Random Forest reaches 0.652. CatBoost is mid-table in Madrid but transfers best to Amsterdam with no labels, 0.593, so it is the base of our transfer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 4:50–5:25 · The starter's prototype ignores the Madrid model. We reuse it three ways — recalibrate it with the few labels, fine-tune it on Madrid plus heavily weighted Amsterdam labels, and let it teach itself from thousands of confident unlabelled Amsterdam pixels. We average, correct the class mix only when we have at least 25 labels, and smooth with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 5:25–6:05 · Same folds, same ten draws for both. Madrid: 0.574 to 0.652. Amsterdam: we beat the baseline at every sample size, by 0.09 to 0.15 — 0.687 with 25 labels, 0.757 with 200, average 0.712. The last column is a stricter check we ran afterwards: labels only from one half of the city, scored on the other half — the average is still 0.71.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 6:05–6:30 · Mean and standard deviation over ten draws against log2 of the labels per class. Our method in amber is best at every size with small error bars; the grey dotted line is the organisers'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 6:30–7:20 · Left: what earned its place — cleaner yearly photos, change-point features, per-city scaling, self-training, spatial smoothing (+0.02) and the class-mix rule from 25 labels. Middle: what we tested and dropped; each number is the measured change in macro F1, and values like +0.001 are inside the error bars. Right: our honest check — after freezing the method, labels came only from one half of Amsterdam and we scored only the other half: 0.710 against the reported 0.712, pixels more than a kilometre from any label score just as well, and none of eight new ideas passed our pre-set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WINSTON · 7:20–7:45 · Thank the Zimbabwean Astronomical Society, ZINGSA, AfAS, OAD, IDIA and DARA,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5760720" cy="141732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rtlCol="0"/>
          <a:lstStyle>
            <a:lvl1pPr algn="ctr" indent="0" marL="0">
              <a:buNone/>
              <a:defRPr lang="en-US" sz="4400" b="1" dirty="0">
                <a:solidFill>
                  <a:schemeClr val="bg1"/>
                </a:solidFill>
                <a:latin typeface="Cambria" pitchFamily="34" charset="0"/>
                <a:ea typeface="Cambria" pitchFamily="34" charset="-122"/>
                <a:cs typeface="Cambria"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3.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cNvSpPr txBox="1"/>
          <p:nvPr/>
        </p:nvSpPr>
        <p:spPr>
          <a:xfrm>
            <a:off x="548640" y="384048"/>
            <a:ext cx="5852160" cy="274320"/>
          </a:xfrm>
          <a:prstGeom prst="rect">
            <a:avLst/>
          </a:prstGeom>
          <a:noFill/>
          <a:ln/>
        </p:spPr>
        <p:txBody>
          <a:bodyPr wrap="square" lIns="0" tIns="0" rIns="0" bIns="0" rtlCol="0" anchor="t"/>
          <a:lstStyle/>
          <a:p>
            <a:pPr indent="0" marL="0">
              <a:buNone/>
            </a:pPr>
            <a:r>
              <a:rPr lang="en-US" sz="1200" b="1" spc="150" kern="0" dirty="0">
                <a:solidFill>
                  <a:schemeClr val="accent1"/>
                </a:solidFill>
                <a:latin typeface="Calibri" pitchFamily="34" charset="0"/>
                <a:ea typeface="Calibri" pitchFamily="34" charset="-122"/>
                <a:cs typeface="Calibri" pitchFamily="34" charset="-120"/>
              </a:rPr>
              <a:t>ZAS  ·  DATA SCIENCE REGIONAL HACKATHON 2026</a:t>
            </a:r>
            <a:endParaRPr lang="en-US" sz="1200" dirty="0"/>
          </a:p>
        </p:txBody>
      </p:sp>
      <p:sp>
        <p:nvSpPr>
          <p:cNvPr id="3" name="Text 0"/>
          <p:cNvSpPr/>
          <p:nvPr>
            <p:ph idx="100" type="title" hasCustomPrompt="1"/>
          </p:nvPr>
        </p:nvSpPr>
        <p:spPr>
          <a:xfrm>
            <a:off x="548640" y="777240"/>
            <a:ext cx="5760720" cy="1417320"/>
          </a:xfrm>
          <a:prstGeom prst="rect">
            <a:avLst/>
          </a:prstGeom>
          <a:noFill/>
          <a:ln/>
        </p:spPr>
        <p:txBody>
          <a:bodyPr wrap="square" lIns="0" tIns="0" rIns="0" bIns="0" rtlCol="0" anchor="t"/>
          <a:lstStyle/>
          <a:p>
            <a:pPr algn="l" indent="0" marL="0">
              <a:buNone/>
            </a:pPr>
            <a:r>
              <a:rPr lang="en-US" sz="4200" b="1" dirty="0">
                <a:solidFill>
                  <a:schemeClr val="bg1"/>
                </a:solidFill>
                <a:latin typeface="Cambria" pitchFamily="34" charset="0"/>
                <a:ea typeface="Cambria" pitchFamily="34" charset="-122"/>
                <a:cs typeface="Cambria" pitchFamily="34" charset="-120"/>
              </a:rPr>
              <a:t>Building Age Classification</a:t>
            </a:r>
            <a:endParaRPr lang="en-US" sz="4200" dirty="0"/>
          </a:p>
        </p:txBody>
      </p:sp>
      <p:pic>
        <p:nvPicPr>
          <p:cNvPr id="4" name="team icon" descr="preencoded.png">    </p:cNvPr>
          <p:cNvPicPr>
            <a:picLocks noChangeAspect="1"/>
          </p:cNvPicPr>
          <p:nvPr/>
        </p:nvPicPr>
        <p:blipFill>
          <a:blip r:embed="rId1"/>
          <a:stretch>
            <a:fillRect/>
          </a:stretch>
        </p:blipFill>
        <p:spPr>
          <a:xfrm>
            <a:off x="548640" y="3154680"/>
            <a:ext cx="365760" cy="365760"/>
          </a:xfrm>
          <a:prstGeom prst="rect">
            <a:avLst/>
          </a:prstGeom>
        </p:spPr>
      </p:pic>
      <p:sp>
        <p:nvSpPr>
          <p:cNvPr id="5" name="team"/>
          <p:cNvSpPr txBox="1"/>
          <p:nvPr/>
        </p:nvSpPr>
        <p:spPr>
          <a:xfrm>
            <a:off x="1024128" y="3099816"/>
            <a:ext cx="27432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Group 2</a:t>
            </a:r>
            <a:endParaRPr lang="en-US" sz="2600" dirty="0"/>
          </a:p>
        </p:txBody>
      </p:sp>
      <p:sp>
        <p:nvSpPr>
          <p:cNvPr id="6" name="venue"/>
          <p:cNvSpPr txBox="1"/>
          <p:nvPr/>
        </p:nvSpPr>
        <p:spPr>
          <a:xfrm>
            <a:off x="548640" y="3584448"/>
            <a:ext cx="5486400" cy="2743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ZINGSA  ·  5–8 October 2026</a:t>
            </a:r>
            <a:endParaRPr lang="en-US" sz="1300" dirty="0"/>
          </a:p>
        </p:txBody>
      </p:sp>
      <p:sp>
        <p:nvSpPr>
          <p:cNvPr id="7" name="stat 0"/>
          <p:cNvSpPr txBox="1"/>
          <p:nvPr/>
        </p:nvSpPr>
        <p:spPr>
          <a:xfrm>
            <a:off x="548640" y="3931920"/>
            <a:ext cx="1828800" cy="50292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0.652</a:t>
            </a:r>
            <a:endParaRPr lang="en-US" sz="3000" dirty="0"/>
          </a:p>
        </p:txBody>
      </p:sp>
      <p:sp>
        <p:nvSpPr>
          <p:cNvPr id="8" name="stat label 0"/>
          <p:cNvSpPr txBox="1"/>
          <p:nvPr/>
        </p:nvSpPr>
        <p:spPr>
          <a:xfrm>
            <a:off x="548640" y="4434840"/>
            <a:ext cx="182880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Madrid F1</a:t>
            </a:r>
            <a:endParaRPr lang="en-US" sz="1200" dirty="0"/>
          </a:p>
        </p:txBody>
      </p:sp>
      <p:sp>
        <p:nvSpPr>
          <p:cNvPr id="9" name="stat 1"/>
          <p:cNvSpPr txBox="1"/>
          <p:nvPr/>
        </p:nvSpPr>
        <p:spPr>
          <a:xfrm>
            <a:off x="2468880" y="3931920"/>
            <a:ext cx="182880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0.687</a:t>
            </a:r>
            <a:endParaRPr lang="en-US" sz="3000" dirty="0"/>
          </a:p>
        </p:txBody>
      </p:sp>
      <p:sp>
        <p:nvSpPr>
          <p:cNvPr id="10" name="stat label 1"/>
          <p:cNvSpPr txBox="1"/>
          <p:nvPr/>
        </p:nvSpPr>
        <p:spPr>
          <a:xfrm>
            <a:off x="2468880" y="4434840"/>
            <a:ext cx="182880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Amsterdam · 25 labels</a:t>
            </a:r>
            <a:endParaRPr lang="en-US" sz="1200" dirty="0"/>
          </a:p>
        </p:txBody>
      </p:sp>
      <p:sp>
        <p:nvSpPr>
          <p:cNvPr id="11" name="stat 2"/>
          <p:cNvSpPr txBox="1"/>
          <p:nvPr/>
        </p:nvSpPr>
        <p:spPr>
          <a:xfrm>
            <a:off x="4389120" y="3931920"/>
            <a:ext cx="1828800" cy="50292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0.757</a:t>
            </a:r>
            <a:endParaRPr lang="en-US" sz="3000" dirty="0"/>
          </a:p>
        </p:txBody>
      </p:sp>
      <p:sp>
        <p:nvSpPr>
          <p:cNvPr id="12" name="stat label 2"/>
          <p:cNvSpPr txBox="1"/>
          <p:nvPr/>
        </p:nvSpPr>
        <p:spPr>
          <a:xfrm>
            <a:off x="4389120" y="4434840"/>
            <a:ext cx="182880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Amsterdam · 200 labels</a:t>
            </a:r>
            <a:endParaRPr lang="en-US" sz="1200" dirty="0"/>
          </a:p>
        </p:txBody>
      </p:sp>
      <p:sp>
        <p:nvSpPr>
          <p:cNvPr id="13" name="abstract card"/>
          <p:cNvSpPr/>
          <p:nvPr/>
        </p:nvSpPr>
        <p:spPr>
          <a:xfrm>
            <a:off x="6446520" y="411480"/>
            <a:ext cx="5303520" cy="3703320"/>
          </a:xfrm>
          <a:prstGeom prst="roundRect">
            <a:avLst>
              <a:gd name="adj" fmla="val 2963"/>
            </a:avLst>
          </a:prstGeom>
          <a:solidFill>
            <a:schemeClr val="tx2">
              <a:alpha val="88000"/>
            </a:schemeClr>
          </a:solidFill>
          <a:ln w="9525">
            <a:solidFill>
              <a:srgbClr val="2A3366"/>
            </a:solidFill>
            <a:prstDash val="solid"/>
          </a:ln>
        </p:spPr>
      </p:sp>
      <p:sp>
        <p:nvSpPr>
          <p:cNvPr id="14" name="abstract head"/>
          <p:cNvSpPr txBox="1"/>
          <p:nvPr/>
        </p:nvSpPr>
        <p:spPr>
          <a:xfrm>
            <a:off x="6693408" y="566928"/>
            <a:ext cx="4572000" cy="32004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Abstract</a:t>
            </a:r>
            <a:endParaRPr lang="en-US" sz="1600" dirty="0"/>
          </a:p>
        </p:txBody>
      </p:sp>
      <p:sp>
        <p:nvSpPr>
          <p:cNvPr id="15" name="abstract"/>
          <p:cNvSpPr txBox="1"/>
          <p:nvPr/>
        </p:nvSpPr>
        <p:spPr>
          <a:xfrm>
            <a:off x="6693408" y="932688"/>
            <a:ext cx="4846320" cy="356616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We classify the construction-age class of 30 m Landsat pixels from 42-year time series, training on Madrid and transferring to Amsterdam with few labels. Rebuilding the input — removing broken scenes and saturated values, and replacing the first-photo rule with a warm-season median composite — cut year-to-year noise by 40–46 %. We engineered 321 label-free features (spectral indices, robust trends, one- and two-break construction change-points, relative and spatial-context features) and standardised each city with its own statistics. A LightGBM–XGBoost–Random Forest ensemble reaches macro F1 0.652 ± 0.026 on Madrid under strict spatial-block cross-validation. For Amsterdam, a CatBoost base model is adapted by recalibration, weighted fine-tuning and self-training on unlabelled pixels, then ensembled, prior-corrected when labels suffice, and spatially smoothed. Macro F1 rises from 0.654 (n = 5) to 0.687 (n = 25) and 0.757 (n = 200), beating the organisers' starter baseline by 0.09–0.15.</a:t>
            </a:r>
            <a:endParaRPr lang="en-US" sz="1200" dirty="0"/>
          </a:p>
        </p:txBody>
      </p:sp>
      <p:sp>
        <p:nvSpPr>
          <p:cNvPr id="16" name="logo tile logo_zas.png"/>
          <p:cNvSpPr/>
          <p:nvPr/>
        </p:nvSpPr>
        <p:spPr>
          <a:xfrm>
            <a:off x="6446520" y="4315968"/>
            <a:ext cx="766204" cy="502920"/>
          </a:xfrm>
          <a:prstGeom prst="roundRect">
            <a:avLst>
              <a:gd name="adj" fmla="val 14545"/>
            </a:avLst>
          </a:prstGeom>
          <a:solidFill>
            <a:srgbClr val="37203D"/>
          </a:solidFill>
          <a:ln w="12700">
            <a:solidFill>
              <a:srgbClr val="37203D"/>
            </a:solidFill>
            <a:prstDash val="solid"/>
          </a:ln>
        </p:spPr>
      </p:sp>
      <p:pic>
        <p:nvPicPr>
          <p:cNvPr id="17" name="logo_zas.png" descr="D:\temp\pptbuild\assets\logo_zas.png">    </p:cNvPr>
          <p:cNvPicPr>
            <a:picLocks noChangeAspect="1"/>
          </p:cNvPicPr>
          <p:nvPr/>
        </p:nvPicPr>
        <p:blipFill>
          <a:blip r:embed="rId2"/>
          <a:stretch>
            <a:fillRect/>
          </a:stretch>
        </p:blipFill>
        <p:spPr>
          <a:xfrm>
            <a:off x="6583680" y="4389120"/>
            <a:ext cx="491884" cy="356616"/>
          </a:xfrm>
          <a:prstGeom prst="rect">
            <a:avLst/>
          </a:prstGeom>
        </p:spPr>
      </p:pic>
      <p:sp>
        <p:nvSpPr>
          <p:cNvPr id="18" name="logo tile logo_afas.png"/>
          <p:cNvSpPr/>
          <p:nvPr/>
        </p:nvSpPr>
        <p:spPr>
          <a:xfrm>
            <a:off x="7285876" y="4315968"/>
            <a:ext cx="1019972" cy="502920"/>
          </a:xfrm>
          <a:prstGeom prst="roundRect">
            <a:avLst>
              <a:gd name="adj" fmla="val 14545"/>
            </a:avLst>
          </a:prstGeom>
          <a:solidFill>
            <a:srgbClr val="37203D"/>
          </a:solidFill>
          <a:ln w="12700">
            <a:solidFill>
              <a:srgbClr val="37203D"/>
            </a:solidFill>
            <a:prstDash val="solid"/>
          </a:ln>
        </p:spPr>
      </p:sp>
      <p:pic>
        <p:nvPicPr>
          <p:cNvPr id="19" name="logo_afas.png" descr="D:\temp\pptbuild\assets\logo_afas.png">    </p:cNvPr>
          <p:cNvPicPr>
            <a:picLocks noChangeAspect="1"/>
          </p:cNvPicPr>
          <p:nvPr/>
        </p:nvPicPr>
        <p:blipFill>
          <a:blip r:embed="rId3"/>
          <a:stretch>
            <a:fillRect/>
          </a:stretch>
        </p:blipFill>
        <p:spPr>
          <a:xfrm>
            <a:off x="7423036" y="4389120"/>
            <a:ext cx="745652" cy="356616"/>
          </a:xfrm>
          <a:prstGeom prst="rect">
            <a:avLst/>
          </a:prstGeom>
        </p:spPr>
      </p:pic>
      <p:sp>
        <p:nvSpPr>
          <p:cNvPr id="20" name="logo tile logo_oad.png"/>
          <p:cNvSpPr/>
          <p:nvPr/>
        </p:nvSpPr>
        <p:spPr>
          <a:xfrm>
            <a:off x="8379000" y="4315968"/>
            <a:ext cx="642823" cy="502920"/>
          </a:xfrm>
          <a:prstGeom prst="roundRect">
            <a:avLst>
              <a:gd name="adj" fmla="val 14545"/>
            </a:avLst>
          </a:prstGeom>
          <a:solidFill>
            <a:srgbClr val="37203D"/>
          </a:solidFill>
          <a:ln w="12700">
            <a:solidFill>
              <a:srgbClr val="37203D"/>
            </a:solidFill>
            <a:prstDash val="solid"/>
          </a:ln>
        </p:spPr>
      </p:sp>
      <p:pic>
        <p:nvPicPr>
          <p:cNvPr id="21" name="logo_oad.png" descr="D:\temp\pptbuild\assets\logo_oad.png">    </p:cNvPr>
          <p:cNvPicPr>
            <a:picLocks noChangeAspect="1"/>
          </p:cNvPicPr>
          <p:nvPr/>
        </p:nvPicPr>
        <p:blipFill>
          <a:blip r:embed="rId4"/>
          <a:stretch>
            <a:fillRect/>
          </a:stretch>
        </p:blipFill>
        <p:spPr>
          <a:xfrm>
            <a:off x="8516160" y="4389120"/>
            <a:ext cx="368503" cy="356616"/>
          </a:xfrm>
          <a:prstGeom prst="rect">
            <a:avLst/>
          </a:prstGeom>
        </p:spPr>
      </p:pic>
      <p:sp>
        <p:nvSpPr>
          <p:cNvPr id="22" name="logo tile logo_idia.png"/>
          <p:cNvSpPr/>
          <p:nvPr/>
        </p:nvSpPr>
        <p:spPr>
          <a:xfrm>
            <a:off x="9094975" y="4315968"/>
            <a:ext cx="783771" cy="502920"/>
          </a:xfrm>
          <a:prstGeom prst="roundRect">
            <a:avLst>
              <a:gd name="adj" fmla="val 14545"/>
            </a:avLst>
          </a:prstGeom>
          <a:solidFill>
            <a:srgbClr val="37203D"/>
          </a:solidFill>
          <a:ln w="12700">
            <a:solidFill>
              <a:srgbClr val="37203D"/>
            </a:solidFill>
            <a:prstDash val="solid"/>
          </a:ln>
        </p:spPr>
      </p:sp>
      <p:pic>
        <p:nvPicPr>
          <p:cNvPr id="23" name="logo_idia.png" descr="D:\temp\pptbuild\assets\logo_idia.png">    </p:cNvPr>
          <p:cNvPicPr>
            <a:picLocks noChangeAspect="1"/>
          </p:cNvPicPr>
          <p:nvPr/>
        </p:nvPicPr>
        <p:blipFill>
          <a:blip r:embed="rId5"/>
          <a:stretch>
            <a:fillRect/>
          </a:stretch>
        </p:blipFill>
        <p:spPr>
          <a:xfrm>
            <a:off x="9232135" y="4389120"/>
            <a:ext cx="509451" cy="356616"/>
          </a:xfrm>
          <a:prstGeom prst="rect">
            <a:avLst/>
          </a:prstGeom>
        </p:spPr>
      </p:pic>
      <p:sp>
        <p:nvSpPr>
          <p:cNvPr id="24" name="logo tile logo_dara.png"/>
          <p:cNvSpPr/>
          <p:nvPr/>
        </p:nvSpPr>
        <p:spPr>
          <a:xfrm>
            <a:off x="9951898" y="4315968"/>
            <a:ext cx="916229" cy="502920"/>
          </a:xfrm>
          <a:prstGeom prst="roundRect">
            <a:avLst>
              <a:gd name="adj" fmla="val 14545"/>
            </a:avLst>
          </a:prstGeom>
          <a:solidFill>
            <a:srgbClr val="37203D"/>
          </a:solidFill>
          <a:ln w="12700">
            <a:solidFill>
              <a:srgbClr val="37203D"/>
            </a:solidFill>
            <a:prstDash val="solid"/>
          </a:ln>
        </p:spPr>
      </p:sp>
      <p:pic>
        <p:nvPicPr>
          <p:cNvPr id="25" name="logo_dara.png" descr="D:\temp\pptbuild\assets\logo_dara.png">    </p:cNvPr>
          <p:cNvPicPr>
            <a:picLocks noChangeAspect="1"/>
          </p:cNvPicPr>
          <p:nvPr/>
        </p:nvPicPr>
        <p:blipFill>
          <a:blip r:embed="rId6"/>
          <a:stretch>
            <a:fillRect/>
          </a:stretch>
        </p:blipFill>
        <p:spPr>
          <a:xfrm>
            <a:off x="10089058" y="4389120"/>
            <a:ext cx="641909" cy="356616"/>
          </a:xfrm>
          <a:prstGeom prst="rect">
            <a:avLst/>
          </a:prstGeom>
        </p:spPr>
      </p:pic>
      <p:sp>
        <p:nvSpPr>
          <p:cNvPr id="26" name="zingsa tile"/>
          <p:cNvSpPr/>
          <p:nvPr/>
        </p:nvSpPr>
        <p:spPr>
          <a:xfrm>
            <a:off x="10941279" y="4315968"/>
            <a:ext cx="777240" cy="502920"/>
          </a:xfrm>
          <a:prstGeom prst="roundRect">
            <a:avLst>
              <a:gd name="adj" fmla="val 14545"/>
            </a:avLst>
          </a:prstGeom>
          <a:solidFill>
            <a:srgbClr val="37203D"/>
          </a:solidFill>
          <a:ln w="12700">
            <a:solidFill>
              <a:srgbClr val="37203D"/>
            </a:solidFill>
            <a:prstDash val="solid"/>
          </a:ln>
        </p:spPr>
      </p:sp>
      <p:sp>
        <p:nvSpPr>
          <p:cNvPr id="27" name="zingsa"/>
          <p:cNvSpPr txBox="1"/>
          <p:nvPr/>
        </p:nvSpPr>
        <p:spPr>
          <a:xfrm>
            <a:off x="10941279" y="4325112"/>
            <a:ext cx="777240" cy="48463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ZINGSA</a:t>
            </a:r>
            <a:endParaRPr lang="en-US" sz="1200" dirty="0"/>
          </a:p>
          <a:p>
            <a:pPr algn="ctr" indent="0" marL="0">
              <a:buNone/>
            </a:pPr>
            <a:r>
              <a:rPr lang="en-US" sz="800" dirty="0">
                <a:solidFill>
                  <a:srgbClr val="C9D3F5"/>
                </a:solidFill>
                <a:latin typeface="Calibri" pitchFamily="34" charset="0"/>
                <a:ea typeface="Calibri" pitchFamily="34" charset="-122"/>
                <a:cs typeface="Calibri" pitchFamily="34" charset="-120"/>
              </a:rPr>
              <a:t>host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Reading a city from orbit</a:t>
            </a:r>
            <a:endParaRPr lang="en-US" sz="3000" dirty="0"/>
          </a:p>
        </p:txBody>
      </p:sp>
      <p:sp>
        <p:nvSpPr>
          <p:cNvPr id="3" name="p1 disc"/>
          <p:cNvSpPr/>
          <p:nvPr/>
        </p:nvSpPr>
        <p:spPr>
          <a:xfrm>
            <a:off x="548640" y="1325880"/>
            <a:ext cx="566928" cy="566928"/>
          </a:xfrm>
          <a:prstGeom prst="ellipse">
            <a:avLst/>
          </a:prstGeom>
          <a:solidFill>
            <a:srgbClr val="F2B33D"/>
          </a:solidFill>
          <a:ln w="12700">
            <a:solidFill>
              <a:srgbClr val="F2B33D"/>
            </a:solidFill>
            <a:prstDash val="solid"/>
          </a:ln>
        </p:spPr>
      </p:sp>
      <p:pic>
        <p:nvPicPr>
          <p:cNvPr id="4" name="p1 icon" descr="preencoded.png">    </p:cNvPr>
          <p:cNvPicPr>
            <a:picLocks noChangeAspect="1"/>
          </p:cNvPicPr>
          <p:nvPr/>
        </p:nvPicPr>
        <p:blipFill>
          <a:blip r:embed="rId1"/>
          <a:stretch>
            <a:fillRect/>
          </a:stretch>
        </p:blipFill>
        <p:spPr>
          <a:xfrm>
            <a:off x="684703" y="1461943"/>
            <a:ext cx="294803" cy="294803"/>
          </a:xfrm>
          <a:prstGeom prst="rect">
            <a:avLst/>
          </a:prstGeom>
        </p:spPr>
      </p:pic>
      <p:sp>
        <p:nvSpPr>
          <p:cNvPr id="5" name="p1 head"/>
          <p:cNvSpPr txBox="1"/>
          <p:nvPr/>
        </p:nvSpPr>
        <p:spPr>
          <a:xfrm>
            <a:off x="1298448" y="1307592"/>
            <a:ext cx="438912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30 m pixels</a:t>
            </a:r>
            <a:endParaRPr lang="en-US" sz="1800" dirty="0"/>
          </a:p>
        </p:txBody>
      </p:sp>
      <p:sp>
        <p:nvSpPr>
          <p:cNvPr id="6" name="p1 sub"/>
          <p:cNvSpPr txBox="1"/>
          <p:nvPr/>
        </p:nvSpPr>
        <p:spPr>
          <a:xfrm>
            <a:off x="1298448" y="1655064"/>
            <a:ext cx="438912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every city block, seen from Landsat</a:t>
            </a:r>
            <a:endParaRPr lang="en-US" sz="1350" dirty="0"/>
          </a:p>
        </p:txBody>
      </p:sp>
      <p:sp>
        <p:nvSpPr>
          <p:cNvPr id="7" name="p2 disc"/>
          <p:cNvSpPr/>
          <p:nvPr/>
        </p:nvSpPr>
        <p:spPr>
          <a:xfrm>
            <a:off x="548640" y="2240280"/>
            <a:ext cx="566928" cy="566928"/>
          </a:xfrm>
          <a:prstGeom prst="ellipse">
            <a:avLst/>
          </a:prstGeom>
          <a:solidFill>
            <a:srgbClr val="5CC8F0"/>
          </a:solidFill>
          <a:ln w="12700">
            <a:solidFill>
              <a:srgbClr val="5CC8F0"/>
            </a:solidFill>
            <a:prstDash val="solid"/>
          </a:ln>
        </p:spPr>
      </p:sp>
      <p:pic>
        <p:nvPicPr>
          <p:cNvPr id="8" name="p2 icon" descr="preencoded.png">    </p:cNvPr>
          <p:cNvPicPr>
            <a:picLocks noChangeAspect="1"/>
          </p:cNvPicPr>
          <p:nvPr/>
        </p:nvPicPr>
        <p:blipFill>
          <a:blip r:embed="rId2"/>
          <a:stretch>
            <a:fillRect/>
          </a:stretch>
        </p:blipFill>
        <p:spPr>
          <a:xfrm>
            <a:off x="684703" y="2376343"/>
            <a:ext cx="294803" cy="294803"/>
          </a:xfrm>
          <a:prstGeom prst="rect">
            <a:avLst/>
          </a:prstGeom>
        </p:spPr>
      </p:pic>
      <p:sp>
        <p:nvSpPr>
          <p:cNvPr id="9" name="p2 head"/>
          <p:cNvSpPr txBox="1"/>
          <p:nvPr/>
        </p:nvSpPr>
        <p:spPr>
          <a:xfrm>
            <a:off x="1298448" y="2221992"/>
            <a:ext cx="438912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42 summers of imagery</a:t>
            </a:r>
            <a:endParaRPr lang="en-US" sz="1800" dirty="0"/>
          </a:p>
        </p:txBody>
      </p:sp>
      <p:sp>
        <p:nvSpPr>
          <p:cNvPr id="10" name="p2 sub"/>
          <p:cNvSpPr txBox="1"/>
          <p:nvPr/>
        </p:nvSpPr>
        <p:spPr>
          <a:xfrm>
            <a:off x="1298448" y="2569464"/>
            <a:ext cx="438912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1984 – 2025 · Landsat 5, 7, 8, 9</a:t>
            </a:r>
            <a:endParaRPr lang="en-US" sz="1350" dirty="0"/>
          </a:p>
        </p:txBody>
      </p:sp>
      <p:sp>
        <p:nvSpPr>
          <p:cNvPr id="11" name="p3 disc"/>
          <p:cNvSpPr/>
          <p:nvPr/>
        </p:nvSpPr>
        <p:spPr>
          <a:xfrm>
            <a:off x="548640" y="3154680"/>
            <a:ext cx="566928" cy="566928"/>
          </a:xfrm>
          <a:prstGeom prst="ellipse">
            <a:avLst/>
          </a:prstGeom>
          <a:solidFill>
            <a:srgbClr val="9D7BFF"/>
          </a:solidFill>
          <a:ln w="12700">
            <a:solidFill>
              <a:srgbClr val="9D7BFF"/>
            </a:solidFill>
            <a:prstDash val="solid"/>
          </a:ln>
        </p:spPr>
      </p:sp>
      <p:pic>
        <p:nvPicPr>
          <p:cNvPr id="12" name="p3 icon" descr="preencoded.png">    </p:cNvPr>
          <p:cNvPicPr>
            <a:picLocks noChangeAspect="1"/>
          </p:cNvPicPr>
          <p:nvPr/>
        </p:nvPicPr>
        <p:blipFill>
          <a:blip r:embed="rId3"/>
          <a:stretch>
            <a:fillRect/>
          </a:stretch>
        </p:blipFill>
        <p:spPr>
          <a:xfrm>
            <a:off x="684703" y="3290743"/>
            <a:ext cx="294803" cy="294803"/>
          </a:xfrm>
          <a:prstGeom prst="rect">
            <a:avLst/>
          </a:prstGeom>
        </p:spPr>
      </p:pic>
      <p:sp>
        <p:nvSpPr>
          <p:cNvPr id="13" name="p3 head"/>
          <p:cNvSpPr txBox="1"/>
          <p:nvPr/>
        </p:nvSpPr>
        <p:spPr>
          <a:xfrm>
            <a:off x="1298448" y="3136392"/>
            <a:ext cx="438912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6 spectral bands</a:t>
            </a:r>
            <a:endParaRPr lang="en-US" sz="1800" dirty="0"/>
          </a:p>
        </p:txBody>
      </p:sp>
      <p:sp>
        <p:nvSpPr>
          <p:cNvPr id="14" name="p3 sub"/>
          <p:cNvSpPr txBox="1"/>
          <p:nvPr/>
        </p:nvSpPr>
        <p:spPr>
          <a:xfrm>
            <a:off x="1298448" y="3483864"/>
            <a:ext cx="438912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visible · near-infrared · short-wave infrared</a:t>
            </a:r>
            <a:endParaRPr lang="en-US" sz="1350" dirty="0"/>
          </a:p>
        </p:txBody>
      </p:sp>
      <p:sp>
        <p:nvSpPr>
          <p:cNvPr id="15" name="p4 disc"/>
          <p:cNvSpPr/>
          <p:nvPr/>
        </p:nvSpPr>
        <p:spPr>
          <a:xfrm>
            <a:off x="548640" y="4069080"/>
            <a:ext cx="566928" cy="566928"/>
          </a:xfrm>
          <a:prstGeom prst="ellipse">
            <a:avLst/>
          </a:prstGeom>
          <a:solidFill>
            <a:srgbClr val="6EE7B7"/>
          </a:solidFill>
          <a:ln w="12700">
            <a:solidFill>
              <a:srgbClr val="6EE7B7"/>
            </a:solidFill>
            <a:prstDash val="solid"/>
          </a:ln>
        </p:spPr>
      </p:sp>
      <p:pic>
        <p:nvPicPr>
          <p:cNvPr id="16" name="p4 icon" descr="preencoded.png">    </p:cNvPr>
          <p:cNvPicPr>
            <a:picLocks noChangeAspect="1"/>
          </p:cNvPicPr>
          <p:nvPr/>
        </p:nvPicPr>
        <p:blipFill>
          <a:blip r:embed="rId4"/>
          <a:stretch>
            <a:fillRect/>
          </a:stretch>
        </p:blipFill>
        <p:spPr>
          <a:xfrm>
            <a:off x="684703" y="4205143"/>
            <a:ext cx="294803" cy="294803"/>
          </a:xfrm>
          <a:prstGeom prst="rect">
            <a:avLst/>
          </a:prstGeom>
        </p:spPr>
      </p:pic>
      <p:sp>
        <p:nvSpPr>
          <p:cNvPr id="17" name="p4 head"/>
          <p:cNvSpPr txBox="1"/>
          <p:nvPr/>
        </p:nvSpPr>
        <p:spPr>
          <a:xfrm>
            <a:off x="1298448" y="4050792"/>
            <a:ext cx="438912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76,263 + 25,992 pixels</a:t>
            </a:r>
            <a:endParaRPr lang="en-US" sz="1800" dirty="0"/>
          </a:p>
        </p:txBody>
      </p:sp>
      <p:sp>
        <p:nvSpPr>
          <p:cNvPr id="18" name="p4 sub"/>
          <p:cNvSpPr txBox="1"/>
          <p:nvPr/>
        </p:nvSpPr>
        <p:spPr>
          <a:xfrm>
            <a:off x="1298448" y="4398264"/>
            <a:ext cx="438912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Madrid (train) · Amsterdam (transfer)</a:t>
            </a:r>
            <a:endParaRPr lang="en-US" sz="1350" dirty="0"/>
          </a:p>
        </p:txBody>
      </p:sp>
      <p:sp>
        <p:nvSpPr>
          <p:cNvPr id="19" name="class card"/>
          <p:cNvSpPr/>
          <p:nvPr/>
        </p:nvSpPr>
        <p:spPr>
          <a:xfrm>
            <a:off x="5989320" y="1280160"/>
            <a:ext cx="5715000" cy="3977640"/>
          </a:xfrm>
          <a:prstGeom prst="roundRect">
            <a:avLst>
              <a:gd name="adj" fmla="val 2759"/>
            </a:avLst>
          </a:prstGeom>
          <a:solidFill>
            <a:schemeClr val="tx2">
              <a:alpha val="85000"/>
            </a:schemeClr>
          </a:solidFill>
          <a:ln w="9525">
            <a:solidFill>
              <a:srgbClr val="2A3366"/>
            </a:solidFill>
            <a:prstDash val="solid"/>
          </a:ln>
        </p:spPr>
      </p:sp>
      <p:sp>
        <p:nvSpPr>
          <p:cNvPr id="20" name="class head"/>
          <p:cNvSpPr txBox="1"/>
          <p:nvPr/>
        </p:nvSpPr>
        <p:spPr>
          <a:xfrm>
            <a:off x="6263640" y="1417320"/>
            <a:ext cx="5120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Four age classes</a:t>
            </a:r>
            <a:endParaRPr lang="en-US" sz="1800" dirty="0"/>
          </a:p>
        </p:txBody>
      </p:sp>
      <p:sp>
        <p:nvSpPr>
          <p:cNvPr id="21" name="tl Madrid"/>
          <p:cNvSpPr txBox="1"/>
          <p:nvPr/>
        </p:nvSpPr>
        <p:spPr>
          <a:xfrm>
            <a:off x="6263640" y="1920240"/>
            <a:ext cx="18288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Madrid</a:t>
            </a:r>
            <a:endParaRPr lang="en-US" sz="1400" dirty="0"/>
          </a:p>
        </p:txBody>
      </p:sp>
      <p:sp>
        <p:nvSpPr>
          <p:cNvPr id="22" name="Madrid c1"/>
          <p:cNvSpPr/>
          <p:nvPr/>
        </p:nvSpPr>
        <p:spPr>
          <a:xfrm>
            <a:off x="6263640" y="2249424"/>
            <a:ext cx="3219994" cy="365760"/>
          </a:xfrm>
          <a:prstGeom prst="rect">
            <a:avLst/>
          </a:prstGeom>
          <a:solidFill>
            <a:srgbClr val="4393C3"/>
          </a:solidFill>
          <a:ln w="12700">
            <a:solidFill>
              <a:srgbClr val="4393C3"/>
            </a:solidFill>
            <a:prstDash val="solid"/>
          </a:ln>
        </p:spPr>
      </p:sp>
      <p:sp>
        <p:nvSpPr>
          <p:cNvPr id="23" name="Madrid l1"/>
          <p:cNvSpPr txBox="1"/>
          <p:nvPr/>
        </p:nvSpPr>
        <p:spPr>
          <a:xfrm>
            <a:off x="6263640" y="2249424"/>
            <a:ext cx="3247426"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C1</a:t>
            </a:r>
            <a:endParaRPr lang="en-US" sz="1300" dirty="0"/>
          </a:p>
        </p:txBody>
      </p:sp>
      <p:sp>
        <p:nvSpPr>
          <p:cNvPr id="24" name="Madrid c2"/>
          <p:cNvSpPr/>
          <p:nvPr/>
        </p:nvSpPr>
        <p:spPr>
          <a:xfrm>
            <a:off x="9511066" y="2249424"/>
            <a:ext cx="681097" cy="365760"/>
          </a:xfrm>
          <a:prstGeom prst="rect">
            <a:avLst/>
          </a:prstGeom>
          <a:solidFill>
            <a:srgbClr val="2CA25F"/>
          </a:solidFill>
          <a:ln w="12700">
            <a:solidFill>
              <a:srgbClr val="2CA25F"/>
            </a:solidFill>
            <a:prstDash val="solid"/>
          </a:ln>
        </p:spPr>
      </p:sp>
      <p:sp>
        <p:nvSpPr>
          <p:cNvPr id="25" name="Madrid l2"/>
          <p:cNvSpPr txBox="1"/>
          <p:nvPr/>
        </p:nvSpPr>
        <p:spPr>
          <a:xfrm>
            <a:off x="9511066" y="2249424"/>
            <a:ext cx="708529"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C2</a:t>
            </a:r>
            <a:endParaRPr lang="en-US" sz="1300" dirty="0"/>
          </a:p>
        </p:txBody>
      </p:sp>
      <p:sp>
        <p:nvSpPr>
          <p:cNvPr id="26" name="Madrid c3"/>
          <p:cNvSpPr/>
          <p:nvPr/>
        </p:nvSpPr>
        <p:spPr>
          <a:xfrm>
            <a:off x="10219596" y="2249424"/>
            <a:ext cx="563009" cy="365760"/>
          </a:xfrm>
          <a:prstGeom prst="rect">
            <a:avLst/>
          </a:prstGeom>
          <a:solidFill>
            <a:srgbClr val="FD8D3C"/>
          </a:solidFill>
          <a:ln w="12700">
            <a:solidFill>
              <a:srgbClr val="FD8D3C"/>
            </a:solidFill>
            <a:prstDash val="solid"/>
          </a:ln>
        </p:spPr>
      </p:sp>
      <p:sp>
        <p:nvSpPr>
          <p:cNvPr id="27" name="Madrid l3"/>
          <p:cNvSpPr txBox="1"/>
          <p:nvPr/>
        </p:nvSpPr>
        <p:spPr>
          <a:xfrm>
            <a:off x="10219596" y="2249424"/>
            <a:ext cx="590441"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C3</a:t>
            </a:r>
            <a:endParaRPr lang="en-US" sz="1300" dirty="0"/>
          </a:p>
        </p:txBody>
      </p:sp>
      <p:sp>
        <p:nvSpPr>
          <p:cNvPr id="28" name="Madrid c4"/>
          <p:cNvSpPr/>
          <p:nvPr/>
        </p:nvSpPr>
        <p:spPr>
          <a:xfrm>
            <a:off x="10810037" y="2249424"/>
            <a:ext cx="592531" cy="365760"/>
          </a:xfrm>
          <a:prstGeom prst="rect">
            <a:avLst/>
          </a:prstGeom>
          <a:solidFill>
            <a:srgbClr val="DE2D26"/>
          </a:solidFill>
          <a:ln w="12700">
            <a:solidFill>
              <a:srgbClr val="DE2D26"/>
            </a:solidFill>
            <a:prstDash val="solid"/>
          </a:ln>
        </p:spPr>
      </p:sp>
      <p:sp>
        <p:nvSpPr>
          <p:cNvPr id="29" name="Madrid l4"/>
          <p:cNvSpPr txBox="1"/>
          <p:nvPr/>
        </p:nvSpPr>
        <p:spPr>
          <a:xfrm>
            <a:off x="10810037" y="2249424"/>
            <a:ext cx="619963"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C4</a:t>
            </a:r>
            <a:endParaRPr lang="en-US" sz="1300" dirty="0"/>
          </a:p>
        </p:txBody>
      </p:sp>
      <p:sp>
        <p:nvSpPr>
          <p:cNvPr id="30" name="Madrid t1960"/>
          <p:cNvSpPr txBox="1"/>
          <p:nvPr/>
        </p:nvSpPr>
        <p:spPr>
          <a:xfrm>
            <a:off x="9465346" y="265176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1960</a:t>
            </a:r>
            <a:endParaRPr lang="en-US" sz="1100" dirty="0"/>
          </a:p>
        </p:txBody>
      </p:sp>
      <p:sp>
        <p:nvSpPr>
          <p:cNvPr id="31" name="Madrid t1984"/>
          <p:cNvSpPr txBox="1"/>
          <p:nvPr/>
        </p:nvSpPr>
        <p:spPr>
          <a:xfrm>
            <a:off x="10173876" y="265176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1984</a:t>
            </a:r>
            <a:endParaRPr lang="en-US" sz="1100" dirty="0"/>
          </a:p>
        </p:txBody>
      </p:sp>
      <p:sp>
        <p:nvSpPr>
          <p:cNvPr id="32" name="Madrid t2004"/>
          <p:cNvSpPr txBox="1"/>
          <p:nvPr/>
        </p:nvSpPr>
        <p:spPr>
          <a:xfrm>
            <a:off x="10764317" y="265176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2004</a:t>
            </a:r>
            <a:endParaRPr lang="en-US" sz="1100" dirty="0"/>
          </a:p>
        </p:txBody>
      </p:sp>
      <p:sp>
        <p:nvSpPr>
          <p:cNvPr id="33" name="tl Amsterdam"/>
          <p:cNvSpPr txBox="1"/>
          <p:nvPr/>
        </p:nvSpPr>
        <p:spPr>
          <a:xfrm>
            <a:off x="6263640" y="2971800"/>
            <a:ext cx="18288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Amsterdam</a:t>
            </a:r>
            <a:endParaRPr lang="en-US" sz="1400" dirty="0"/>
          </a:p>
        </p:txBody>
      </p:sp>
      <p:sp>
        <p:nvSpPr>
          <p:cNvPr id="34" name="Amsterdam c1"/>
          <p:cNvSpPr/>
          <p:nvPr/>
        </p:nvSpPr>
        <p:spPr>
          <a:xfrm>
            <a:off x="6263640" y="3300984"/>
            <a:ext cx="2777163" cy="365760"/>
          </a:xfrm>
          <a:prstGeom prst="rect">
            <a:avLst/>
          </a:prstGeom>
          <a:solidFill>
            <a:srgbClr val="4393C3"/>
          </a:solidFill>
          <a:ln w="12700">
            <a:solidFill>
              <a:srgbClr val="4393C3"/>
            </a:solidFill>
            <a:prstDash val="solid"/>
          </a:ln>
        </p:spPr>
      </p:sp>
      <p:sp>
        <p:nvSpPr>
          <p:cNvPr id="35" name="Amsterdam l1"/>
          <p:cNvSpPr txBox="1"/>
          <p:nvPr/>
        </p:nvSpPr>
        <p:spPr>
          <a:xfrm>
            <a:off x="6263640" y="3300984"/>
            <a:ext cx="2804595"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C1</a:t>
            </a:r>
            <a:endParaRPr lang="en-US" sz="1300" dirty="0"/>
          </a:p>
        </p:txBody>
      </p:sp>
      <p:sp>
        <p:nvSpPr>
          <p:cNvPr id="36" name="Amsterdam c2"/>
          <p:cNvSpPr/>
          <p:nvPr/>
        </p:nvSpPr>
        <p:spPr>
          <a:xfrm>
            <a:off x="9068235" y="3300984"/>
            <a:ext cx="1123928" cy="365760"/>
          </a:xfrm>
          <a:prstGeom prst="rect">
            <a:avLst/>
          </a:prstGeom>
          <a:solidFill>
            <a:srgbClr val="2CA25F"/>
          </a:solidFill>
          <a:ln w="12700">
            <a:solidFill>
              <a:srgbClr val="2CA25F"/>
            </a:solidFill>
            <a:prstDash val="solid"/>
          </a:ln>
        </p:spPr>
      </p:sp>
      <p:sp>
        <p:nvSpPr>
          <p:cNvPr id="37" name="Amsterdam l2"/>
          <p:cNvSpPr txBox="1"/>
          <p:nvPr/>
        </p:nvSpPr>
        <p:spPr>
          <a:xfrm>
            <a:off x="9068235" y="3300984"/>
            <a:ext cx="11513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C2</a:t>
            </a:r>
            <a:endParaRPr lang="en-US" sz="1300" dirty="0"/>
          </a:p>
        </p:txBody>
      </p:sp>
      <p:sp>
        <p:nvSpPr>
          <p:cNvPr id="38" name="Amsterdam c3"/>
          <p:cNvSpPr/>
          <p:nvPr/>
        </p:nvSpPr>
        <p:spPr>
          <a:xfrm>
            <a:off x="10219596" y="3300984"/>
            <a:ext cx="563009" cy="365760"/>
          </a:xfrm>
          <a:prstGeom prst="rect">
            <a:avLst/>
          </a:prstGeom>
          <a:solidFill>
            <a:srgbClr val="FD8D3C"/>
          </a:solidFill>
          <a:ln w="12700">
            <a:solidFill>
              <a:srgbClr val="FD8D3C"/>
            </a:solidFill>
            <a:prstDash val="solid"/>
          </a:ln>
        </p:spPr>
      </p:sp>
      <p:sp>
        <p:nvSpPr>
          <p:cNvPr id="39" name="Amsterdam l3"/>
          <p:cNvSpPr txBox="1"/>
          <p:nvPr/>
        </p:nvSpPr>
        <p:spPr>
          <a:xfrm>
            <a:off x="10219596" y="3300984"/>
            <a:ext cx="590441"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C3</a:t>
            </a:r>
            <a:endParaRPr lang="en-US" sz="1300" dirty="0"/>
          </a:p>
        </p:txBody>
      </p:sp>
      <p:sp>
        <p:nvSpPr>
          <p:cNvPr id="40" name="Amsterdam c4"/>
          <p:cNvSpPr/>
          <p:nvPr/>
        </p:nvSpPr>
        <p:spPr>
          <a:xfrm>
            <a:off x="10810037" y="3300984"/>
            <a:ext cx="592531" cy="365760"/>
          </a:xfrm>
          <a:prstGeom prst="rect">
            <a:avLst/>
          </a:prstGeom>
          <a:solidFill>
            <a:srgbClr val="DE2D26"/>
          </a:solidFill>
          <a:ln w="12700">
            <a:solidFill>
              <a:srgbClr val="DE2D26"/>
            </a:solidFill>
            <a:prstDash val="solid"/>
          </a:ln>
        </p:spPr>
      </p:sp>
      <p:sp>
        <p:nvSpPr>
          <p:cNvPr id="41" name="Amsterdam l4"/>
          <p:cNvSpPr txBox="1"/>
          <p:nvPr/>
        </p:nvSpPr>
        <p:spPr>
          <a:xfrm>
            <a:off x="10810037" y="3300984"/>
            <a:ext cx="619963"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C4</a:t>
            </a:r>
            <a:endParaRPr lang="en-US" sz="1300" dirty="0"/>
          </a:p>
        </p:txBody>
      </p:sp>
      <p:sp>
        <p:nvSpPr>
          <p:cNvPr id="42" name="Amsterdam t1945"/>
          <p:cNvSpPr txBox="1"/>
          <p:nvPr/>
        </p:nvSpPr>
        <p:spPr>
          <a:xfrm>
            <a:off x="9022515" y="370332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1945</a:t>
            </a:r>
            <a:endParaRPr lang="en-US" sz="1100" dirty="0"/>
          </a:p>
        </p:txBody>
      </p:sp>
      <p:sp>
        <p:nvSpPr>
          <p:cNvPr id="43" name="Amsterdam t1984"/>
          <p:cNvSpPr txBox="1"/>
          <p:nvPr/>
        </p:nvSpPr>
        <p:spPr>
          <a:xfrm>
            <a:off x="10173876" y="370332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1984</a:t>
            </a:r>
            <a:endParaRPr lang="en-US" sz="1100" dirty="0"/>
          </a:p>
        </p:txBody>
      </p:sp>
      <p:sp>
        <p:nvSpPr>
          <p:cNvPr id="44" name="Amsterdam t2004"/>
          <p:cNvSpPr txBox="1"/>
          <p:nvPr/>
        </p:nvSpPr>
        <p:spPr>
          <a:xfrm>
            <a:off x="10764317" y="3703320"/>
            <a:ext cx="54864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2004</a:t>
            </a:r>
            <a:endParaRPr lang="en-US" sz="1100" dirty="0"/>
          </a:p>
        </p:txBody>
      </p:sp>
      <p:sp>
        <p:nvSpPr>
          <p:cNvPr id="45" name="task"/>
          <p:cNvSpPr txBox="1"/>
          <p:nvPr/>
        </p:nvSpPr>
        <p:spPr>
          <a:xfrm>
            <a:off x="6263640" y="4160520"/>
            <a:ext cx="521208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Learn in Madrid  →  adapt to Amsterdam</a:t>
            </a:r>
            <a:endParaRPr lang="en-US" sz="1500" dirty="0"/>
          </a:p>
          <a:p>
            <a:pPr indent="0" marL="0">
              <a:buNone/>
            </a:pPr>
            <a:r>
              <a:rPr lang="en-US" sz="1500" dirty="0">
                <a:solidFill>
                  <a:srgbClr val="C9D3F5"/>
                </a:solidFill>
                <a:latin typeface="Calibri" pitchFamily="34" charset="0"/>
                <a:ea typeface="Calibri" pitchFamily="34" charset="-122"/>
                <a:cs typeface="Calibri" pitchFamily="34" charset="-120"/>
              </a:rPr>
              <a:t>with only 5 · 25 · 50 · 100 · 200 labels per class</a:t>
            </a:r>
            <a:endParaRPr lang="en-US" sz="15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What the data told us</a:t>
            </a:r>
            <a:endParaRPr lang="en-US" sz="3000" dirty="0"/>
          </a:p>
        </p:txBody>
      </p:sp>
      <p:sp>
        <p:nvSpPr>
          <p:cNvPr id="3" name="find 0"/>
          <p:cNvSpPr/>
          <p:nvPr/>
        </p:nvSpPr>
        <p:spPr>
          <a:xfrm>
            <a:off x="502920" y="1325880"/>
            <a:ext cx="5486400" cy="1554480"/>
          </a:xfrm>
          <a:prstGeom prst="roundRect">
            <a:avLst>
              <a:gd name="adj" fmla="val 7059"/>
            </a:avLst>
          </a:prstGeom>
          <a:solidFill>
            <a:schemeClr val="tx2">
              <a:alpha val="85000"/>
            </a:schemeClr>
          </a:solidFill>
          <a:ln w="9525">
            <a:solidFill>
              <a:srgbClr val="2A3366"/>
            </a:solidFill>
            <a:prstDash val="solid"/>
          </a:ln>
        </p:spPr>
      </p:sp>
      <p:sp>
        <p:nvSpPr>
          <p:cNvPr id="4" name="find num 0"/>
          <p:cNvSpPr txBox="1"/>
          <p:nvPr/>
        </p:nvSpPr>
        <p:spPr>
          <a:xfrm>
            <a:off x="777240" y="1581912"/>
            <a:ext cx="2011680" cy="914400"/>
          </a:xfrm>
          <a:prstGeom prst="rect">
            <a:avLst/>
          </a:prstGeom>
          <a:noFill/>
          <a:ln/>
        </p:spPr>
        <p:txBody>
          <a:bodyPr wrap="square" lIns="0" tIns="0" rIns="0" bIns="0" rtlCol="0" anchor="ctr"/>
          <a:lstStyle/>
          <a:p>
            <a:pPr indent="0" marL="0">
              <a:buNone/>
            </a:pPr>
            <a:r>
              <a:rPr lang="en-US" sz="4600" b="1" dirty="0">
                <a:solidFill>
                  <a:srgbClr val="E85D75"/>
                </a:solidFill>
                <a:latin typeface="Cambria" pitchFamily="34" charset="0"/>
                <a:ea typeface="Cambria" pitchFamily="34" charset="-122"/>
                <a:cs typeface="Cambria" pitchFamily="34" charset="-120"/>
              </a:rPr>
              <a:t>3</a:t>
            </a:r>
            <a:endParaRPr lang="en-US" sz="4600" dirty="0"/>
          </a:p>
        </p:txBody>
      </p:sp>
      <p:sp>
        <p:nvSpPr>
          <p:cNvPr id="5" name="find text 0"/>
          <p:cNvSpPr txBox="1"/>
          <p:nvPr/>
        </p:nvSpPr>
        <p:spPr>
          <a:xfrm>
            <a:off x="2880360" y="1645920"/>
            <a:ext cx="2926080" cy="91440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broken satellite scenes passed the quality flag</a:t>
            </a:r>
            <a:endParaRPr lang="en-US" sz="1700" dirty="0"/>
          </a:p>
        </p:txBody>
      </p:sp>
      <p:sp>
        <p:nvSpPr>
          <p:cNvPr id="6" name="find 1"/>
          <p:cNvSpPr/>
          <p:nvPr/>
        </p:nvSpPr>
        <p:spPr>
          <a:xfrm>
            <a:off x="6172200" y="1325880"/>
            <a:ext cx="5486400" cy="1554480"/>
          </a:xfrm>
          <a:prstGeom prst="roundRect">
            <a:avLst>
              <a:gd name="adj" fmla="val 7059"/>
            </a:avLst>
          </a:prstGeom>
          <a:solidFill>
            <a:schemeClr val="tx2">
              <a:alpha val="85000"/>
            </a:schemeClr>
          </a:solidFill>
          <a:ln w="9525">
            <a:solidFill>
              <a:srgbClr val="2A3366"/>
            </a:solidFill>
            <a:prstDash val="solid"/>
          </a:ln>
        </p:spPr>
      </p:sp>
      <p:sp>
        <p:nvSpPr>
          <p:cNvPr id="7" name="find num 1"/>
          <p:cNvSpPr txBox="1"/>
          <p:nvPr/>
        </p:nvSpPr>
        <p:spPr>
          <a:xfrm>
            <a:off x="6446520" y="1581912"/>
            <a:ext cx="2011680" cy="914400"/>
          </a:xfrm>
          <a:prstGeom prst="rect">
            <a:avLst/>
          </a:prstGeom>
          <a:noFill/>
          <a:ln/>
        </p:spPr>
        <p:txBody>
          <a:bodyPr wrap="square" lIns="0" tIns="0" rIns="0" bIns="0" rtlCol="0" anchor="ctr"/>
          <a:lstStyle/>
          <a:p>
            <a:pPr indent="0" marL="0">
              <a:buNone/>
            </a:pPr>
            <a:r>
              <a:rPr lang="en-US" sz="4600" b="1" dirty="0">
                <a:solidFill>
                  <a:srgbClr val="F2B33D"/>
                </a:solidFill>
                <a:latin typeface="Cambria" pitchFamily="34" charset="0"/>
                <a:ea typeface="Cambria" pitchFamily="34" charset="-122"/>
                <a:cs typeface="Cambria" pitchFamily="34" charset="-120"/>
              </a:rPr>
              <a:t>31 %</a:t>
            </a:r>
            <a:endParaRPr lang="en-US" sz="4600" dirty="0"/>
          </a:p>
        </p:txBody>
      </p:sp>
      <p:sp>
        <p:nvSpPr>
          <p:cNvPr id="8" name="find text 1"/>
          <p:cNvSpPr txBox="1"/>
          <p:nvPr/>
        </p:nvSpPr>
        <p:spPr>
          <a:xfrm>
            <a:off x="8549640" y="1645920"/>
            <a:ext cx="2926080" cy="91440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of Amsterdam photos are summer images</a:t>
            </a:r>
            <a:endParaRPr lang="en-US" sz="1700" dirty="0"/>
          </a:p>
        </p:txBody>
      </p:sp>
      <p:sp>
        <p:nvSpPr>
          <p:cNvPr id="9" name="find 2"/>
          <p:cNvSpPr/>
          <p:nvPr/>
        </p:nvSpPr>
        <p:spPr>
          <a:xfrm>
            <a:off x="502920" y="3063240"/>
            <a:ext cx="5486400" cy="1554480"/>
          </a:xfrm>
          <a:prstGeom prst="roundRect">
            <a:avLst>
              <a:gd name="adj" fmla="val 7059"/>
            </a:avLst>
          </a:prstGeom>
          <a:solidFill>
            <a:schemeClr val="tx2">
              <a:alpha val="85000"/>
            </a:schemeClr>
          </a:solidFill>
          <a:ln w="9525">
            <a:solidFill>
              <a:srgbClr val="2A3366"/>
            </a:solidFill>
            <a:prstDash val="solid"/>
          </a:ln>
        </p:spPr>
      </p:sp>
      <p:sp>
        <p:nvSpPr>
          <p:cNvPr id="10" name="find num 2"/>
          <p:cNvSpPr txBox="1"/>
          <p:nvPr/>
        </p:nvSpPr>
        <p:spPr>
          <a:xfrm>
            <a:off x="777240" y="3319272"/>
            <a:ext cx="2011680" cy="914400"/>
          </a:xfrm>
          <a:prstGeom prst="rect">
            <a:avLst/>
          </a:prstGeom>
          <a:noFill/>
          <a:ln/>
        </p:spPr>
        <p:txBody>
          <a:bodyPr wrap="square" lIns="0" tIns="0" rIns="0" bIns="0" rtlCol="0" anchor="ctr"/>
          <a:lstStyle/>
          <a:p>
            <a:pPr indent="0" marL="0">
              <a:buNone/>
            </a:pPr>
            <a:r>
              <a:rPr lang="en-US" sz="4600" b="1" dirty="0">
                <a:solidFill>
                  <a:srgbClr val="5CC8F0"/>
                </a:solidFill>
                <a:latin typeface="Cambria" pitchFamily="34" charset="0"/>
                <a:ea typeface="Cambria" pitchFamily="34" charset="-122"/>
                <a:cs typeface="Cambria" pitchFamily="34" charset="-120"/>
              </a:rPr>
              <a:t>60 %</a:t>
            </a:r>
            <a:endParaRPr lang="en-US" sz="4600" dirty="0"/>
          </a:p>
        </p:txBody>
      </p:sp>
      <p:sp>
        <p:nvSpPr>
          <p:cNvPr id="11" name="find text 2"/>
          <p:cNvSpPr txBox="1"/>
          <p:nvPr/>
        </p:nvSpPr>
        <p:spPr>
          <a:xfrm>
            <a:off x="2880360" y="3383280"/>
            <a:ext cx="2926080" cy="91440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of clean photos ignored by the starter pipeline</a:t>
            </a:r>
            <a:endParaRPr lang="en-US" sz="1700" dirty="0"/>
          </a:p>
        </p:txBody>
      </p:sp>
      <p:sp>
        <p:nvSpPr>
          <p:cNvPr id="12" name="find 3"/>
          <p:cNvSpPr/>
          <p:nvPr/>
        </p:nvSpPr>
        <p:spPr>
          <a:xfrm>
            <a:off x="6172200" y="3063240"/>
            <a:ext cx="5486400" cy="1554480"/>
          </a:xfrm>
          <a:prstGeom prst="roundRect">
            <a:avLst>
              <a:gd name="adj" fmla="val 7059"/>
            </a:avLst>
          </a:prstGeom>
          <a:solidFill>
            <a:schemeClr val="tx2">
              <a:alpha val="85000"/>
            </a:schemeClr>
          </a:solidFill>
          <a:ln w="9525">
            <a:solidFill>
              <a:srgbClr val="2A3366"/>
            </a:solidFill>
            <a:prstDash val="solid"/>
          </a:ln>
        </p:spPr>
      </p:sp>
      <p:sp>
        <p:nvSpPr>
          <p:cNvPr id="13" name="find num 3"/>
          <p:cNvSpPr txBox="1"/>
          <p:nvPr/>
        </p:nvSpPr>
        <p:spPr>
          <a:xfrm>
            <a:off x="6446520" y="3319272"/>
            <a:ext cx="2011680" cy="914400"/>
          </a:xfrm>
          <a:prstGeom prst="rect">
            <a:avLst/>
          </a:prstGeom>
          <a:noFill/>
          <a:ln/>
        </p:spPr>
        <p:txBody>
          <a:bodyPr wrap="square" lIns="0" tIns="0" rIns="0" bIns="0" rtlCol="0" anchor="ctr"/>
          <a:lstStyle/>
          <a:p>
            <a:pPr indent="0" marL="0">
              <a:buNone/>
            </a:pPr>
            <a:r>
              <a:rPr lang="en-US" sz="4600" b="1" dirty="0">
                <a:solidFill>
                  <a:srgbClr val="6EE7B7"/>
                </a:solidFill>
                <a:latin typeface="Cambria" pitchFamily="34" charset="0"/>
                <a:ea typeface="Cambria" pitchFamily="34" charset="-122"/>
                <a:cs typeface="Cambria" pitchFamily="34" charset="-120"/>
              </a:rPr>
              <a:t>87 %</a:t>
            </a:r>
            <a:endParaRPr lang="en-US" sz="4600" dirty="0"/>
          </a:p>
        </p:txBody>
      </p:sp>
      <p:sp>
        <p:nvSpPr>
          <p:cNvPr id="14" name="find text 3"/>
          <p:cNvSpPr txBox="1"/>
          <p:nvPr/>
        </p:nvSpPr>
        <p:spPr>
          <a:xfrm>
            <a:off x="8549640" y="3383280"/>
            <a:ext cx="2926080" cy="914400"/>
          </a:xfrm>
          <a:prstGeom prst="rect">
            <a:avLst/>
          </a:prstGeom>
          <a:noFill/>
          <a:ln/>
        </p:spPr>
        <p:txBody>
          <a:bodyPr wrap="square" lIns="0" tIns="0" rIns="0" bIns="0" rtlCol="0" anchor="ctr"/>
          <a:lstStyle/>
          <a:p>
            <a:pPr indent="0" marL="0">
              <a:buNone/>
            </a:pPr>
            <a:r>
              <a:rPr lang="en-US" sz="1700" dirty="0">
                <a:solidFill>
                  <a:schemeClr val="bg1"/>
                </a:solidFill>
                <a:latin typeface="Calibri" pitchFamily="34" charset="0"/>
                <a:ea typeface="Calibri" pitchFamily="34" charset="-122"/>
                <a:cs typeface="Calibri" pitchFamily="34" charset="-120"/>
              </a:rPr>
              <a:t>of neighbouring pixels share the same age</a:t>
            </a:r>
            <a:endParaRPr lang="en-US" sz="1700" dirty="0"/>
          </a:p>
        </p:txBody>
      </p:sp>
      <p:sp>
        <p:nvSpPr>
          <p:cNvPr id="15" name="rebuilt"/>
          <p:cNvSpPr txBox="1"/>
          <p:nvPr/>
        </p:nvSpPr>
        <p:spPr>
          <a:xfrm>
            <a:off x="502920" y="4892040"/>
            <a:ext cx="11155680" cy="411480"/>
          </a:xfrm>
          <a:prstGeom prst="rect">
            <a:avLst/>
          </a:prstGeom>
          <a:noFill/>
          <a:ln/>
        </p:spPr>
        <p:txBody>
          <a:bodyPr wrap="square" lIns="0" tIns="0" rIns="0" bIns="0" rtlCol="0" anchor="t"/>
          <a:lstStyle/>
          <a:p>
            <a:pPr algn="ctr" indent="0" marL="0">
              <a:buNone/>
            </a:pPr>
            <a:r>
              <a:rPr lang="en-US" sz="1800" dirty="0">
                <a:solidFill>
                  <a:srgbClr val="FFFFFF"/>
                </a:solidFill>
                <a:latin typeface="Calibri" pitchFamily="34" charset="0"/>
                <a:ea typeface="Calibri" pitchFamily="34" charset="-122"/>
                <a:cs typeface="Calibri" pitchFamily="34" charset="-120"/>
              </a:rPr>
              <a:t>We rebuilt the input  →  </a:t>
            </a:r>
            <a:pPr algn="ctr" indent="0" marL="0">
              <a:buNone/>
            </a:pPr>
            <a:r>
              <a:rPr lang="en-US" sz="1800" b="1" dirty="0">
                <a:solidFill>
                  <a:srgbClr val="F2B33D"/>
                </a:solidFill>
                <a:latin typeface="Calibri" pitchFamily="34" charset="0"/>
                <a:ea typeface="Calibri" pitchFamily="34" charset="-122"/>
                <a:cs typeface="Calibri" pitchFamily="34" charset="-120"/>
              </a:rPr>
              <a:t>year-to-year noise −46 %</a:t>
            </a:r>
            <a:endParaRPr lang="en-US" sz="18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The physics of building age</a:t>
            </a:r>
            <a:endParaRPr lang="en-US" sz="3000" dirty="0"/>
          </a:p>
        </p:txBody>
      </p:sp>
      <p:sp>
        <p:nvSpPr>
          <p:cNvPr id="3" name="ph1 disc"/>
          <p:cNvSpPr/>
          <p:nvPr/>
        </p:nvSpPr>
        <p:spPr>
          <a:xfrm>
            <a:off x="548640" y="1325880"/>
            <a:ext cx="566928" cy="566928"/>
          </a:xfrm>
          <a:prstGeom prst="ellipse">
            <a:avLst/>
          </a:prstGeom>
          <a:solidFill>
            <a:srgbClr val="F2B33D"/>
          </a:solidFill>
          <a:ln w="12700">
            <a:solidFill>
              <a:srgbClr val="F2B33D"/>
            </a:solidFill>
            <a:prstDash val="solid"/>
          </a:ln>
        </p:spPr>
      </p:sp>
      <p:pic>
        <p:nvPicPr>
          <p:cNvPr id="4" name="ph1 icon" descr="preencoded.png">    </p:cNvPr>
          <p:cNvPicPr>
            <a:picLocks noChangeAspect="1"/>
          </p:cNvPicPr>
          <p:nvPr/>
        </p:nvPicPr>
        <p:blipFill>
          <a:blip r:embed="rId1"/>
          <a:stretch>
            <a:fillRect/>
          </a:stretch>
        </p:blipFill>
        <p:spPr>
          <a:xfrm>
            <a:off x="684703" y="1461943"/>
            <a:ext cx="294803" cy="294803"/>
          </a:xfrm>
          <a:prstGeom prst="rect">
            <a:avLst/>
          </a:prstGeom>
        </p:spPr>
      </p:pic>
      <p:sp>
        <p:nvSpPr>
          <p:cNvPr id="5" name="ph1 head"/>
          <p:cNvSpPr txBox="1"/>
          <p:nvPr/>
        </p:nvSpPr>
        <p:spPr>
          <a:xfrm>
            <a:off x="1298448" y="1307592"/>
            <a:ext cx="420624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Materials reflect light differently</a:t>
            </a:r>
            <a:endParaRPr lang="en-US" sz="1800" dirty="0"/>
          </a:p>
        </p:txBody>
      </p:sp>
      <p:sp>
        <p:nvSpPr>
          <p:cNvPr id="6" name="ph1 sub"/>
          <p:cNvSpPr txBox="1"/>
          <p:nvPr/>
        </p:nvSpPr>
        <p:spPr>
          <a:xfrm>
            <a:off x="1298448" y="1655064"/>
            <a:ext cx="420624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brick · concrete · glass · vegetation</a:t>
            </a:r>
            <a:endParaRPr lang="en-US" sz="1350" dirty="0"/>
          </a:p>
        </p:txBody>
      </p:sp>
      <p:sp>
        <p:nvSpPr>
          <p:cNvPr id="7" name="ph2 disc"/>
          <p:cNvSpPr/>
          <p:nvPr/>
        </p:nvSpPr>
        <p:spPr>
          <a:xfrm>
            <a:off x="548640" y="2286000"/>
            <a:ext cx="566928" cy="566928"/>
          </a:xfrm>
          <a:prstGeom prst="ellipse">
            <a:avLst/>
          </a:prstGeom>
          <a:solidFill>
            <a:srgbClr val="5CC8F0"/>
          </a:solidFill>
          <a:ln w="12700">
            <a:solidFill>
              <a:srgbClr val="5CC8F0"/>
            </a:solidFill>
            <a:prstDash val="solid"/>
          </a:ln>
        </p:spPr>
      </p:sp>
      <p:pic>
        <p:nvPicPr>
          <p:cNvPr id="8" name="ph2 icon" descr="preencoded.png">    </p:cNvPr>
          <p:cNvPicPr>
            <a:picLocks noChangeAspect="1"/>
          </p:cNvPicPr>
          <p:nvPr/>
        </p:nvPicPr>
        <p:blipFill>
          <a:blip r:embed="rId2"/>
          <a:stretch>
            <a:fillRect/>
          </a:stretch>
        </p:blipFill>
        <p:spPr>
          <a:xfrm>
            <a:off x="684703" y="2422063"/>
            <a:ext cx="294803" cy="294803"/>
          </a:xfrm>
          <a:prstGeom prst="rect">
            <a:avLst/>
          </a:prstGeom>
        </p:spPr>
      </p:pic>
      <p:sp>
        <p:nvSpPr>
          <p:cNvPr id="9" name="ph2 head"/>
          <p:cNvSpPr txBox="1"/>
          <p:nvPr/>
        </p:nvSpPr>
        <p:spPr>
          <a:xfrm>
            <a:off x="1298448" y="2267712"/>
            <a:ext cx="420624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Construction leaves a step</a:t>
            </a:r>
            <a:endParaRPr lang="en-US" sz="1800" dirty="0"/>
          </a:p>
        </p:txBody>
      </p:sp>
      <p:sp>
        <p:nvSpPr>
          <p:cNvPr id="10" name="ph2 sub"/>
          <p:cNvSpPr txBox="1"/>
          <p:nvPr/>
        </p:nvSpPr>
        <p:spPr>
          <a:xfrm>
            <a:off x="1298448" y="2615184"/>
            <a:ext cx="420624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vegetation → bare soil → new roof</a:t>
            </a:r>
            <a:endParaRPr lang="en-US" sz="1350" dirty="0"/>
          </a:p>
        </p:txBody>
      </p:sp>
      <p:sp>
        <p:nvSpPr>
          <p:cNvPr id="11" name="ph3 disc"/>
          <p:cNvSpPr/>
          <p:nvPr/>
        </p:nvSpPr>
        <p:spPr>
          <a:xfrm>
            <a:off x="548640" y="3246120"/>
            <a:ext cx="566928" cy="566928"/>
          </a:xfrm>
          <a:prstGeom prst="ellipse">
            <a:avLst/>
          </a:prstGeom>
          <a:solidFill>
            <a:srgbClr val="9D7BFF"/>
          </a:solidFill>
          <a:ln w="12700">
            <a:solidFill>
              <a:srgbClr val="9D7BFF"/>
            </a:solidFill>
            <a:prstDash val="solid"/>
          </a:ln>
        </p:spPr>
      </p:sp>
      <p:pic>
        <p:nvPicPr>
          <p:cNvPr id="12" name="ph3 icon" descr="preencoded.png">    </p:cNvPr>
          <p:cNvPicPr>
            <a:picLocks noChangeAspect="1"/>
          </p:cNvPicPr>
          <p:nvPr/>
        </p:nvPicPr>
        <p:blipFill>
          <a:blip r:embed="rId3"/>
          <a:stretch>
            <a:fillRect/>
          </a:stretch>
        </p:blipFill>
        <p:spPr>
          <a:xfrm>
            <a:off x="684703" y="3382183"/>
            <a:ext cx="294803" cy="294803"/>
          </a:xfrm>
          <a:prstGeom prst="rect">
            <a:avLst/>
          </a:prstGeom>
        </p:spPr>
      </p:pic>
      <p:sp>
        <p:nvSpPr>
          <p:cNvPr id="13" name="ph3 head"/>
          <p:cNvSpPr txBox="1"/>
          <p:nvPr/>
        </p:nvSpPr>
        <p:spPr>
          <a:xfrm>
            <a:off x="1298448" y="3227832"/>
            <a:ext cx="420624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Ratios cancel sunlight</a:t>
            </a:r>
            <a:endParaRPr lang="en-US" sz="1800" dirty="0"/>
          </a:p>
        </p:txBody>
      </p:sp>
      <p:sp>
        <p:nvSpPr>
          <p:cNvPr id="14" name="ph3 sub"/>
          <p:cNvSpPr txBox="1"/>
          <p:nvPr/>
        </p:nvSpPr>
        <p:spPr>
          <a:xfrm>
            <a:off x="1298448" y="3575304"/>
            <a:ext cx="420624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indices remove sensor and climate effects</a:t>
            </a:r>
            <a:endParaRPr lang="en-US" sz="1350" dirty="0"/>
          </a:p>
        </p:txBody>
      </p:sp>
      <p:sp>
        <p:nvSpPr>
          <p:cNvPr id="15" name="ph4 disc"/>
          <p:cNvSpPr/>
          <p:nvPr/>
        </p:nvSpPr>
        <p:spPr>
          <a:xfrm>
            <a:off x="548640" y="4206240"/>
            <a:ext cx="566928" cy="566928"/>
          </a:xfrm>
          <a:prstGeom prst="ellipse">
            <a:avLst/>
          </a:prstGeom>
          <a:solidFill>
            <a:srgbClr val="6EE7B7"/>
          </a:solidFill>
          <a:ln w="12700">
            <a:solidFill>
              <a:srgbClr val="6EE7B7"/>
            </a:solidFill>
            <a:prstDash val="solid"/>
          </a:ln>
        </p:spPr>
      </p:sp>
      <p:pic>
        <p:nvPicPr>
          <p:cNvPr id="16" name="ph4 icon" descr="preencoded.png">    </p:cNvPr>
          <p:cNvPicPr>
            <a:picLocks noChangeAspect="1"/>
          </p:cNvPicPr>
          <p:nvPr/>
        </p:nvPicPr>
        <p:blipFill>
          <a:blip r:embed="rId4"/>
          <a:stretch>
            <a:fillRect/>
          </a:stretch>
        </p:blipFill>
        <p:spPr>
          <a:xfrm>
            <a:off x="684703" y="4342303"/>
            <a:ext cx="294803" cy="294803"/>
          </a:xfrm>
          <a:prstGeom prst="rect">
            <a:avLst/>
          </a:prstGeom>
        </p:spPr>
      </p:pic>
      <p:sp>
        <p:nvSpPr>
          <p:cNvPr id="17" name="ph4 head"/>
          <p:cNvSpPr txBox="1"/>
          <p:nvPr/>
        </p:nvSpPr>
        <p:spPr>
          <a:xfrm>
            <a:off x="1298448" y="4187952"/>
            <a:ext cx="4206240" cy="347472"/>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Describe change, not brightness</a:t>
            </a:r>
            <a:endParaRPr lang="en-US" sz="1800" dirty="0"/>
          </a:p>
        </p:txBody>
      </p:sp>
      <p:sp>
        <p:nvSpPr>
          <p:cNvPr id="18" name="ph4 sub"/>
          <p:cNvSpPr txBox="1"/>
          <p:nvPr/>
        </p:nvSpPr>
        <p:spPr>
          <a:xfrm>
            <a:off x="1298448" y="4535424"/>
            <a:ext cx="4206240" cy="320040"/>
          </a:xfrm>
          <a:prstGeom prst="rect">
            <a:avLst/>
          </a:prstGeom>
          <a:noFill/>
          <a:ln/>
        </p:spPr>
        <p:txBody>
          <a:bodyPr wrap="square" lIns="0" tIns="0" rIns="0" bIns="0" rtlCol="0" anchor="t"/>
          <a:lstStyle/>
          <a:p>
            <a:pPr indent="0" marL="0">
              <a:buNone/>
            </a:pPr>
            <a:r>
              <a:rPr lang="en-US" sz="1350" dirty="0">
                <a:solidFill>
                  <a:schemeClr val="bg2"/>
                </a:solidFill>
                <a:latin typeface="Calibri" pitchFamily="34" charset="0"/>
                <a:ea typeface="Calibri" pitchFamily="34" charset="-122"/>
                <a:cs typeface="Calibri" pitchFamily="34" charset="-120"/>
              </a:rPr>
              <a:t>the signal that travels between cities</a:t>
            </a:r>
            <a:endParaRPr lang="en-US" sz="1350" dirty="0"/>
          </a:p>
        </p:txBody>
      </p:sp>
      <p:sp>
        <p:nvSpPr>
          <p:cNvPr id="19" name="breaks card"/>
          <p:cNvSpPr/>
          <p:nvPr/>
        </p:nvSpPr>
        <p:spPr>
          <a:xfrm>
            <a:off x="5532120" y="1280160"/>
            <a:ext cx="6172200" cy="4023360"/>
          </a:xfrm>
          <a:prstGeom prst="roundRect">
            <a:avLst>
              <a:gd name="adj" fmla="val 2727"/>
            </a:avLst>
          </a:prstGeom>
          <a:solidFill>
            <a:schemeClr val="tx2">
              <a:alpha val="78000"/>
            </a:schemeClr>
          </a:solidFill>
          <a:ln w="9525">
            <a:solidFill>
              <a:srgbClr val="2A3366"/>
            </a:solidFill>
            <a:prstDash val="solid"/>
          </a:ln>
        </p:spPr>
      </p:sp>
      <p:pic>
        <p:nvPicPr>
          <p:cNvPr id="20" name="breaks chart" descr="D:\temp\pptbuild\assets\chart_breaks.png">    </p:cNvPr>
          <p:cNvPicPr>
            <a:picLocks noChangeAspect="1"/>
          </p:cNvPicPr>
          <p:nvPr/>
        </p:nvPicPr>
        <p:blipFill>
          <a:blip r:embed="rId5"/>
          <a:stretch>
            <a:fillRect/>
          </a:stretch>
        </p:blipFill>
        <p:spPr>
          <a:xfrm>
            <a:off x="5623560" y="1463040"/>
            <a:ext cx="5989320" cy="2286000"/>
          </a:xfrm>
          <a:prstGeom prst="rect">
            <a:avLst/>
          </a:prstGeom>
        </p:spPr>
      </p:pic>
      <p:sp>
        <p:nvSpPr>
          <p:cNvPr id="21" name="breaks head"/>
          <p:cNvSpPr txBox="1"/>
          <p:nvPr/>
        </p:nvSpPr>
        <p:spPr>
          <a:xfrm>
            <a:off x="5806440" y="3931920"/>
            <a:ext cx="56692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Strength of the main jump in each pixel's history</a:t>
            </a:r>
            <a:endParaRPr lang="en-US" sz="1400" dirty="0"/>
          </a:p>
        </p:txBody>
      </p:sp>
      <p:sp>
        <p:nvSpPr>
          <p:cNvPr id="22" name="breaks text"/>
          <p:cNvSpPr txBox="1"/>
          <p:nvPr/>
        </p:nvSpPr>
        <p:spPr>
          <a:xfrm>
            <a:off x="5806440" y="4297680"/>
            <a:ext cx="5669280" cy="731520"/>
          </a:xfrm>
          <a:prstGeom prst="rect">
            <a:avLst/>
          </a:prstGeom>
          <a:noFill/>
          <a:ln/>
        </p:spPr>
        <p:txBody>
          <a:bodyPr wrap="square" lIns="0" tIns="0" rIns="0" bIns="0" rtlCol="0" anchor="t"/>
          <a:lstStyle/>
          <a:p>
            <a:pPr indent="0" marL="0">
              <a:buNone/>
            </a:pPr>
            <a:r>
              <a:rPr lang="en-US" sz="1350" dirty="0">
                <a:solidFill>
                  <a:schemeClr val="bg1"/>
                </a:solidFill>
                <a:latin typeface="Calibri" pitchFamily="34" charset="0"/>
                <a:ea typeface="Calibri" pitchFamily="34" charset="-122"/>
                <a:cs typeface="Calibri" pitchFamily="34" charset="-120"/>
              </a:rPr>
              <a:t>Built after 1984 (C3, C4): strong steps · Built before (C1, C2): flat — clearest in Amsterdam</a:t>
            </a:r>
            <a:endParaRPr lang="en-US" sz="135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How we built it</a:t>
            </a:r>
            <a:endParaRPr lang="en-US" sz="3000" dirty="0"/>
          </a:p>
        </p:txBody>
      </p:sp>
      <p:sp>
        <p:nvSpPr>
          <p:cNvPr id="3" name="pipeline line"/>
          <p:cNvSpPr/>
          <p:nvPr/>
        </p:nvSpPr>
        <p:spPr>
          <a:xfrm>
            <a:off x="1188720" y="1920240"/>
            <a:ext cx="9784080" cy="0"/>
          </a:xfrm>
          <a:prstGeom prst="line">
            <a:avLst/>
          </a:prstGeom>
          <a:noFill/>
          <a:ln w="19050">
            <a:solidFill>
              <a:srgbClr val="8A94B8"/>
            </a:solidFill>
            <a:prstDash val="dash"/>
          </a:ln>
        </p:spPr>
      </p:sp>
      <p:sp>
        <p:nvSpPr>
          <p:cNvPr id="4" name="step 0 disc"/>
          <p:cNvSpPr/>
          <p:nvPr/>
        </p:nvSpPr>
        <p:spPr>
          <a:xfrm>
            <a:off x="1097280" y="1371600"/>
            <a:ext cx="1097280" cy="1097280"/>
          </a:xfrm>
          <a:prstGeom prst="ellipse">
            <a:avLst/>
          </a:prstGeom>
          <a:solidFill>
            <a:srgbClr val="F2B33D"/>
          </a:solidFill>
          <a:ln w="12700">
            <a:solidFill>
              <a:srgbClr val="F2B33D"/>
            </a:solidFill>
            <a:prstDash val="solid"/>
          </a:ln>
        </p:spPr>
      </p:sp>
      <p:pic>
        <p:nvPicPr>
          <p:cNvPr id="5" name="step 0 icon" descr="preencoded.png">    </p:cNvPr>
          <p:cNvPicPr>
            <a:picLocks noChangeAspect="1"/>
          </p:cNvPicPr>
          <p:nvPr/>
        </p:nvPicPr>
        <p:blipFill>
          <a:blip r:embed="rId1"/>
          <a:stretch>
            <a:fillRect/>
          </a:stretch>
        </p:blipFill>
        <p:spPr>
          <a:xfrm>
            <a:off x="1360627" y="1634947"/>
            <a:ext cx="570586" cy="570586"/>
          </a:xfrm>
          <a:prstGeom prst="rect">
            <a:avLst/>
          </a:prstGeom>
        </p:spPr>
      </p:pic>
      <p:sp>
        <p:nvSpPr>
          <p:cNvPr id="6" name="step head 0"/>
          <p:cNvSpPr txBox="1"/>
          <p:nvPr/>
        </p:nvSpPr>
        <p:spPr>
          <a:xfrm>
            <a:off x="685800" y="260604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Clean</a:t>
            </a:r>
            <a:endParaRPr lang="en-US" sz="1800" dirty="0"/>
          </a:p>
        </p:txBody>
      </p:sp>
      <p:sp>
        <p:nvSpPr>
          <p:cNvPr id="7" name="step text 0"/>
          <p:cNvSpPr txBox="1"/>
          <p:nvPr/>
        </p:nvSpPr>
        <p:spPr>
          <a:xfrm>
            <a:off x="685800" y="3017520"/>
            <a:ext cx="1920240" cy="731520"/>
          </a:xfrm>
          <a:prstGeom prst="rect">
            <a:avLst/>
          </a:prstGeom>
          <a:noFill/>
          <a:ln/>
        </p:spPr>
        <p:txBody>
          <a:bodyPr wrap="square" lIns="0" tIns="0" rIns="0" bIns="0" rtlCol="0" anchor="t"/>
          <a:lstStyle/>
          <a:p>
            <a:pPr algn="ctr" indent="0" marL="0">
              <a:buNone/>
            </a:pPr>
            <a:r>
              <a:rPr lang="en-US" sz="1350" dirty="0">
                <a:solidFill>
                  <a:schemeClr val="bg1"/>
                </a:solidFill>
                <a:latin typeface="Calibri" pitchFamily="34" charset="0"/>
                <a:ea typeface="Calibri" pitchFamily="34" charset="-122"/>
                <a:cs typeface="Calibri" pitchFamily="34" charset="-120"/>
              </a:rPr>
              <a:t>warm-season median</a:t>
            </a:r>
            <a:endParaRPr lang="en-US" sz="1350" dirty="0"/>
          </a:p>
          <a:p>
            <a:pPr algn="ctr" indent="0" marL="0">
              <a:buNone/>
            </a:pPr>
            <a:r>
              <a:rPr lang="en-US" sz="1350" dirty="0">
                <a:solidFill>
                  <a:schemeClr val="bg1"/>
                </a:solidFill>
                <a:latin typeface="Calibri" pitchFamily="34" charset="0"/>
                <a:ea typeface="Calibri" pitchFamily="34" charset="-122"/>
                <a:cs typeface="Calibri" pitchFamily="34" charset="-120"/>
              </a:rPr>
              <a:t>3 broken scenes removed</a:t>
            </a:r>
            <a:endParaRPr lang="en-US" sz="1350" dirty="0"/>
          </a:p>
        </p:txBody>
      </p:sp>
      <p:sp>
        <p:nvSpPr>
          <p:cNvPr id="8" name="step 1 disc"/>
          <p:cNvSpPr/>
          <p:nvPr/>
        </p:nvSpPr>
        <p:spPr>
          <a:xfrm>
            <a:off x="3364992" y="1371600"/>
            <a:ext cx="1097280" cy="1097280"/>
          </a:xfrm>
          <a:prstGeom prst="ellipse">
            <a:avLst/>
          </a:prstGeom>
          <a:solidFill>
            <a:srgbClr val="5CC8F0"/>
          </a:solidFill>
          <a:ln w="12700">
            <a:solidFill>
              <a:srgbClr val="5CC8F0"/>
            </a:solidFill>
            <a:prstDash val="solid"/>
          </a:ln>
        </p:spPr>
      </p:sp>
      <p:pic>
        <p:nvPicPr>
          <p:cNvPr id="9" name="step 1 icon" descr="preencoded.png">    </p:cNvPr>
          <p:cNvPicPr>
            <a:picLocks noChangeAspect="1"/>
          </p:cNvPicPr>
          <p:nvPr/>
        </p:nvPicPr>
        <p:blipFill>
          <a:blip r:embed="rId2"/>
          <a:stretch>
            <a:fillRect/>
          </a:stretch>
        </p:blipFill>
        <p:spPr>
          <a:xfrm>
            <a:off x="3628339" y="1634947"/>
            <a:ext cx="570586" cy="570586"/>
          </a:xfrm>
          <a:prstGeom prst="rect">
            <a:avLst/>
          </a:prstGeom>
        </p:spPr>
      </p:pic>
      <p:sp>
        <p:nvSpPr>
          <p:cNvPr id="10" name="step head 1"/>
          <p:cNvSpPr txBox="1"/>
          <p:nvPr/>
        </p:nvSpPr>
        <p:spPr>
          <a:xfrm>
            <a:off x="2953512" y="260604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Engineer</a:t>
            </a:r>
            <a:endParaRPr lang="en-US" sz="1800" dirty="0"/>
          </a:p>
        </p:txBody>
      </p:sp>
      <p:sp>
        <p:nvSpPr>
          <p:cNvPr id="11" name="step text 1"/>
          <p:cNvSpPr txBox="1"/>
          <p:nvPr/>
        </p:nvSpPr>
        <p:spPr>
          <a:xfrm>
            <a:off x="2953512" y="3017520"/>
            <a:ext cx="1920240" cy="731520"/>
          </a:xfrm>
          <a:prstGeom prst="rect">
            <a:avLst/>
          </a:prstGeom>
          <a:noFill/>
          <a:ln/>
        </p:spPr>
        <p:txBody>
          <a:bodyPr wrap="square" lIns="0" tIns="0" rIns="0" bIns="0" rtlCol="0" anchor="t"/>
          <a:lstStyle/>
          <a:p>
            <a:pPr algn="ctr" indent="0" marL="0">
              <a:buNone/>
            </a:pPr>
            <a:r>
              <a:rPr lang="en-US" sz="1350" dirty="0">
                <a:solidFill>
                  <a:schemeClr val="bg1"/>
                </a:solidFill>
                <a:latin typeface="Calibri" pitchFamily="34" charset="0"/>
                <a:ea typeface="Calibri" pitchFamily="34" charset="-122"/>
                <a:cs typeface="Calibri" pitchFamily="34" charset="-120"/>
              </a:rPr>
              <a:t>321 label-free features</a:t>
            </a:r>
            <a:endParaRPr lang="en-US" sz="1350" dirty="0"/>
          </a:p>
          <a:p>
            <a:pPr algn="ctr" indent="0" marL="0">
              <a:buNone/>
            </a:pPr>
            <a:r>
              <a:rPr lang="en-US" sz="1350" dirty="0">
                <a:solidFill>
                  <a:schemeClr val="bg1"/>
                </a:solidFill>
                <a:latin typeface="Calibri" pitchFamily="34" charset="0"/>
                <a:ea typeface="Calibri" pitchFamily="34" charset="-122"/>
                <a:cs typeface="Calibri" pitchFamily="34" charset="-120"/>
              </a:rPr>
              <a:t>9 groups</a:t>
            </a:r>
            <a:endParaRPr lang="en-US" sz="1350" dirty="0"/>
          </a:p>
        </p:txBody>
      </p:sp>
      <p:sp>
        <p:nvSpPr>
          <p:cNvPr id="12" name="step 2 disc"/>
          <p:cNvSpPr/>
          <p:nvPr/>
        </p:nvSpPr>
        <p:spPr>
          <a:xfrm>
            <a:off x="5632704" y="1371600"/>
            <a:ext cx="1097280" cy="1097280"/>
          </a:xfrm>
          <a:prstGeom prst="ellipse">
            <a:avLst/>
          </a:prstGeom>
          <a:solidFill>
            <a:srgbClr val="9D7BFF"/>
          </a:solidFill>
          <a:ln w="12700">
            <a:solidFill>
              <a:srgbClr val="9D7BFF"/>
            </a:solidFill>
            <a:prstDash val="solid"/>
          </a:ln>
        </p:spPr>
      </p:sp>
      <p:pic>
        <p:nvPicPr>
          <p:cNvPr id="13" name="step 2 icon" descr="preencoded.png">    </p:cNvPr>
          <p:cNvPicPr>
            <a:picLocks noChangeAspect="1"/>
          </p:cNvPicPr>
          <p:nvPr/>
        </p:nvPicPr>
        <p:blipFill>
          <a:blip r:embed="rId3"/>
          <a:stretch>
            <a:fillRect/>
          </a:stretch>
        </p:blipFill>
        <p:spPr>
          <a:xfrm>
            <a:off x="5896051" y="1634947"/>
            <a:ext cx="570586" cy="570586"/>
          </a:xfrm>
          <a:prstGeom prst="rect">
            <a:avLst/>
          </a:prstGeom>
        </p:spPr>
      </p:pic>
      <p:sp>
        <p:nvSpPr>
          <p:cNvPr id="14" name="step head 2"/>
          <p:cNvSpPr txBox="1"/>
          <p:nvPr/>
        </p:nvSpPr>
        <p:spPr>
          <a:xfrm>
            <a:off x="5221224" y="260604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Scale per city</a:t>
            </a:r>
            <a:endParaRPr lang="en-US" sz="1800" dirty="0"/>
          </a:p>
        </p:txBody>
      </p:sp>
      <p:sp>
        <p:nvSpPr>
          <p:cNvPr id="15" name="step text 2"/>
          <p:cNvSpPr txBox="1"/>
          <p:nvPr/>
        </p:nvSpPr>
        <p:spPr>
          <a:xfrm>
            <a:off x="5221224" y="3017520"/>
            <a:ext cx="1920240" cy="731520"/>
          </a:xfrm>
          <a:prstGeom prst="rect">
            <a:avLst/>
          </a:prstGeom>
          <a:noFill/>
          <a:ln/>
        </p:spPr>
        <p:txBody>
          <a:bodyPr wrap="square" lIns="0" tIns="0" rIns="0" bIns="0" rtlCol="0" anchor="t"/>
          <a:lstStyle/>
          <a:p>
            <a:pPr algn="ctr" indent="0" marL="0">
              <a:buNone/>
            </a:pPr>
            <a:r>
              <a:rPr lang="en-US" sz="1350" dirty="0">
                <a:solidFill>
                  <a:schemeClr val="bg1"/>
                </a:solidFill>
                <a:latin typeface="Calibri" pitchFamily="34" charset="0"/>
                <a:ea typeface="Calibri" pitchFamily="34" charset="-122"/>
                <a:cs typeface="Calibri" pitchFamily="34" charset="-120"/>
              </a:rPr>
              <a:t>each city on its own curve</a:t>
            </a:r>
            <a:endParaRPr lang="en-US" sz="1350" dirty="0"/>
          </a:p>
          <a:p>
            <a:pPr algn="ctr" indent="0" marL="0">
              <a:buNone/>
            </a:pPr>
            <a:r>
              <a:rPr lang="en-US" sz="1350" dirty="0">
                <a:solidFill>
                  <a:schemeClr val="bg1"/>
                </a:solidFill>
                <a:latin typeface="Calibri" pitchFamily="34" charset="0"/>
                <a:ea typeface="Calibri" pitchFamily="34" charset="-122"/>
                <a:cs typeface="Calibri" pitchFamily="34" charset="-120"/>
              </a:rPr>
              <a:t>no labels used</a:t>
            </a:r>
            <a:endParaRPr lang="en-US" sz="1350" dirty="0"/>
          </a:p>
        </p:txBody>
      </p:sp>
      <p:sp>
        <p:nvSpPr>
          <p:cNvPr id="16" name="step 3 disc"/>
          <p:cNvSpPr/>
          <p:nvPr/>
        </p:nvSpPr>
        <p:spPr>
          <a:xfrm>
            <a:off x="7900416" y="1371600"/>
            <a:ext cx="1097280" cy="1097280"/>
          </a:xfrm>
          <a:prstGeom prst="ellipse">
            <a:avLst/>
          </a:prstGeom>
          <a:solidFill>
            <a:srgbClr val="6EE7B7"/>
          </a:solidFill>
          <a:ln w="12700">
            <a:solidFill>
              <a:srgbClr val="6EE7B7"/>
            </a:solidFill>
            <a:prstDash val="solid"/>
          </a:ln>
        </p:spPr>
      </p:sp>
      <p:pic>
        <p:nvPicPr>
          <p:cNvPr id="17" name="step 3 icon" descr="preencoded.png">    </p:cNvPr>
          <p:cNvPicPr>
            <a:picLocks noChangeAspect="1"/>
          </p:cNvPicPr>
          <p:nvPr/>
        </p:nvPicPr>
        <p:blipFill>
          <a:blip r:embed="rId4"/>
          <a:stretch>
            <a:fillRect/>
          </a:stretch>
        </p:blipFill>
        <p:spPr>
          <a:xfrm>
            <a:off x="8163763" y="1634947"/>
            <a:ext cx="570586" cy="570586"/>
          </a:xfrm>
          <a:prstGeom prst="rect">
            <a:avLst/>
          </a:prstGeom>
        </p:spPr>
      </p:pic>
      <p:sp>
        <p:nvSpPr>
          <p:cNvPr id="18" name="step head 3"/>
          <p:cNvSpPr txBox="1"/>
          <p:nvPr/>
        </p:nvSpPr>
        <p:spPr>
          <a:xfrm>
            <a:off x="7488936" y="260604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Model</a:t>
            </a:r>
            <a:endParaRPr lang="en-US" sz="1800" dirty="0"/>
          </a:p>
        </p:txBody>
      </p:sp>
      <p:sp>
        <p:nvSpPr>
          <p:cNvPr id="19" name="step text 3"/>
          <p:cNvSpPr txBox="1"/>
          <p:nvPr/>
        </p:nvSpPr>
        <p:spPr>
          <a:xfrm>
            <a:off x="7488936" y="3017520"/>
            <a:ext cx="1920240" cy="731520"/>
          </a:xfrm>
          <a:prstGeom prst="rect">
            <a:avLst/>
          </a:prstGeom>
          <a:noFill/>
          <a:ln/>
        </p:spPr>
        <p:txBody>
          <a:bodyPr wrap="square" lIns="0" tIns="0" rIns="0" bIns="0" rtlCol="0" anchor="t"/>
          <a:lstStyle/>
          <a:p>
            <a:pPr algn="ctr" indent="0" marL="0">
              <a:buNone/>
            </a:pPr>
            <a:r>
              <a:rPr lang="en-US" sz="1350" dirty="0">
                <a:solidFill>
                  <a:schemeClr val="bg1"/>
                </a:solidFill>
                <a:latin typeface="Calibri" pitchFamily="34" charset="0"/>
                <a:ea typeface="Calibri" pitchFamily="34" charset="-122"/>
                <a:cs typeface="Calibri" pitchFamily="34" charset="-120"/>
              </a:rPr>
              <a:t>6 algorithms</a:t>
            </a:r>
            <a:endParaRPr lang="en-US" sz="1350" dirty="0"/>
          </a:p>
          <a:p>
            <a:pPr algn="ctr" indent="0" marL="0">
              <a:buNone/>
            </a:pPr>
            <a:r>
              <a:rPr lang="en-US" sz="1350" dirty="0">
                <a:solidFill>
                  <a:schemeClr val="bg1"/>
                </a:solidFill>
                <a:latin typeface="Calibri" pitchFamily="34" charset="0"/>
                <a:ea typeface="Calibri" pitchFamily="34" charset="-122"/>
                <a:cs typeface="Calibri" pitchFamily="34" charset="-120"/>
              </a:rPr>
              <a:t>+ ensemble</a:t>
            </a:r>
            <a:endParaRPr lang="en-US" sz="1350" dirty="0"/>
          </a:p>
        </p:txBody>
      </p:sp>
      <p:sp>
        <p:nvSpPr>
          <p:cNvPr id="20" name="step 4 disc"/>
          <p:cNvSpPr/>
          <p:nvPr/>
        </p:nvSpPr>
        <p:spPr>
          <a:xfrm>
            <a:off x="10168128" y="1371600"/>
            <a:ext cx="1097280" cy="1097280"/>
          </a:xfrm>
          <a:prstGeom prst="ellipse">
            <a:avLst/>
          </a:prstGeom>
          <a:solidFill>
            <a:srgbClr val="F2B33D"/>
          </a:solidFill>
          <a:ln w="12700">
            <a:solidFill>
              <a:srgbClr val="F2B33D"/>
            </a:solidFill>
            <a:prstDash val="solid"/>
          </a:ln>
        </p:spPr>
      </p:sp>
      <p:pic>
        <p:nvPicPr>
          <p:cNvPr id="21" name="step 4 icon" descr="preencoded.png">    </p:cNvPr>
          <p:cNvPicPr>
            <a:picLocks noChangeAspect="1"/>
          </p:cNvPicPr>
          <p:nvPr/>
        </p:nvPicPr>
        <p:blipFill>
          <a:blip r:embed="rId5"/>
          <a:stretch>
            <a:fillRect/>
          </a:stretch>
        </p:blipFill>
        <p:spPr>
          <a:xfrm>
            <a:off x="10431475" y="1634947"/>
            <a:ext cx="570586" cy="570586"/>
          </a:xfrm>
          <a:prstGeom prst="rect">
            <a:avLst/>
          </a:prstGeom>
        </p:spPr>
      </p:pic>
      <p:sp>
        <p:nvSpPr>
          <p:cNvPr id="22" name="step head 4"/>
          <p:cNvSpPr txBox="1"/>
          <p:nvPr/>
        </p:nvSpPr>
        <p:spPr>
          <a:xfrm>
            <a:off x="9756648" y="2606040"/>
            <a:ext cx="192024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Validate</a:t>
            </a:r>
            <a:endParaRPr lang="en-US" sz="1800" dirty="0"/>
          </a:p>
        </p:txBody>
      </p:sp>
      <p:sp>
        <p:nvSpPr>
          <p:cNvPr id="23" name="step text 4"/>
          <p:cNvSpPr txBox="1"/>
          <p:nvPr/>
        </p:nvSpPr>
        <p:spPr>
          <a:xfrm>
            <a:off x="9756648" y="3017520"/>
            <a:ext cx="1920240" cy="731520"/>
          </a:xfrm>
          <a:prstGeom prst="rect">
            <a:avLst/>
          </a:prstGeom>
          <a:noFill/>
          <a:ln/>
        </p:spPr>
        <p:txBody>
          <a:bodyPr wrap="square" lIns="0" tIns="0" rIns="0" bIns="0" rtlCol="0" anchor="t"/>
          <a:lstStyle/>
          <a:p>
            <a:pPr algn="ctr" indent="0" marL="0">
              <a:buNone/>
            </a:pPr>
            <a:r>
              <a:rPr lang="en-US" sz="1350" dirty="0">
                <a:solidFill>
                  <a:schemeClr val="bg1"/>
                </a:solidFill>
                <a:latin typeface="Calibri" pitchFamily="34" charset="0"/>
                <a:ea typeface="Calibri" pitchFamily="34" charset="-122"/>
                <a:cs typeface="Calibri" pitchFamily="34" charset="-120"/>
              </a:rPr>
              <a:t>2 km spatial blocks</a:t>
            </a:r>
            <a:endParaRPr lang="en-US" sz="1350" dirty="0"/>
          </a:p>
          <a:p>
            <a:pPr algn="ctr" indent="0" marL="0">
              <a:buNone/>
            </a:pPr>
            <a:r>
              <a:rPr lang="en-US" sz="1350" dirty="0">
                <a:solidFill>
                  <a:schemeClr val="bg1"/>
                </a:solidFill>
                <a:latin typeface="Calibri" pitchFamily="34" charset="0"/>
                <a:ea typeface="Calibri" pitchFamily="34" charset="-122"/>
                <a:cs typeface="Calibri" pitchFamily="34" charset="-120"/>
              </a:rPr>
              <a:t>10 draws per n</a:t>
            </a:r>
            <a:endParaRPr lang="en-US" sz="1350" dirty="0"/>
          </a:p>
        </p:txBody>
      </p:sp>
      <p:sp>
        <p:nvSpPr>
          <p:cNvPr id="24" name="chip 0"/>
          <p:cNvSpPr/>
          <p:nvPr/>
        </p:nvSpPr>
        <p:spPr>
          <a:xfrm>
            <a:off x="960120" y="4206240"/>
            <a:ext cx="2377440" cy="502920"/>
          </a:xfrm>
          <a:prstGeom prst="roundRect">
            <a:avLst>
              <a:gd name="adj" fmla="val 49091"/>
            </a:avLst>
          </a:prstGeom>
          <a:solidFill>
            <a:srgbClr val="141A3F">
              <a:alpha val="90000"/>
            </a:srgbClr>
          </a:solidFill>
          <a:ln w="12700">
            <a:solidFill>
              <a:srgbClr val="5CC8F0"/>
            </a:solidFill>
            <a:prstDash val="solid"/>
          </a:ln>
        </p:spPr>
      </p:sp>
      <p:sp>
        <p:nvSpPr>
          <p:cNvPr id="25" name="chip text 0"/>
          <p:cNvSpPr txBox="1"/>
          <p:nvPr/>
        </p:nvSpPr>
        <p:spPr>
          <a:xfrm>
            <a:off x="960120" y="4206240"/>
            <a:ext cx="2377440" cy="502920"/>
          </a:xfrm>
          <a:prstGeom prst="rect">
            <a:avLst/>
          </a:prstGeom>
          <a:noFill/>
          <a:ln/>
        </p:spPr>
        <p:txBody>
          <a:bodyPr wrap="square" lIns="0" tIns="0" rIns="0" bIns="0" rtlCol="0" anchor="ctr"/>
          <a:lstStyle/>
          <a:p>
            <a:pPr algn="ctr" indent="0" marL="0">
              <a:buNone/>
            </a:pPr>
            <a:r>
              <a:rPr lang="en-US" sz="1400" b="1" dirty="0">
                <a:solidFill>
                  <a:schemeClr val="accent2"/>
                </a:solidFill>
                <a:latin typeface="Calibri" pitchFamily="34" charset="0"/>
                <a:ea typeface="Calibri" pitchFamily="34" charset="-122"/>
                <a:cs typeface="Calibri" pitchFamily="34" charset="-120"/>
              </a:rPr>
              <a:t>Fixed seeds</a:t>
            </a:r>
            <a:endParaRPr lang="en-US" sz="1400" dirty="0"/>
          </a:p>
        </p:txBody>
      </p:sp>
      <p:sp>
        <p:nvSpPr>
          <p:cNvPr id="26" name="chip 1"/>
          <p:cNvSpPr/>
          <p:nvPr/>
        </p:nvSpPr>
        <p:spPr>
          <a:xfrm>
            <a:off x="3566160" y="4206240"/>
            <a:ext cx="2377440" cy="502920"/>
          </a:xfrm>
          <a:prstGeom prst="roundRect">
            <a:avLst>
              <a:gd name="adj" fmla="val 49091"/>
            </a:avLst>
          </a:prstGeom>
          <a:solidFill>
            <a:srgbClr val="141A3F">
              <a:alpha val="90000"/>
            </a:srgbClr>
          </a:solidFill>
          <a:ln w="12700">
            <a:solidFill>
              <a:srgbClr val="5CC8F0"/>
            </a:solidFill>
            <a:prstDash val="solid"/>
          </a:ln>
        </p:spPr>
      </p:sp>
      <p:sp>
        <p:nvSpPr>
          <p:cNvPr id="27" name="chip text 1"/>
          <p:cNvSpPr txBox="1"/>
          <p:nvPr/>
        </p:nvSpPr>
        <p:spPr>
          <a:xfrm>
            <a:off x="3566160" y="4206240"/>
            <a:ext cx="2377440" cy="502920"/>
          </a:xfrm>
          <a:prstGeom prst="rect">
            <a:avLst/>
          </a:prstGeom>
          <a:noFill/>
          <a:ln/>
        </p:spPr>
        <p:txBody>
          <a:bodyPr wrap="square" lIns="0" tIns="0" rIns="0" bIns="0" rtlCol="0" anchor="ctr"/>
          <a:lstStyle/>
          <a:p>
            <a:pPr algn="ctr" indent="0" marL="0">
              <a:buNone/>
            </a:pPr>
            <a:r>
              <a:rPr lang="en-US" sz="1400" b="1" dirty="0">
                <a:solidFill>
                  <a:schemeClr val="accent2"/>
                </a:solidFill>
                <a:latin typeface="Calibri" pitchFamily="34" charset="0"/>
                <a:ea typeface="Calibri" pitchFamily="34" charset="-122"/>
                <a:cs typeface="Calibri" pitchFamily="34" charset="-120"/>
              </a:rPr>
              <a:t>CPU = GPU ± 0.003</a:t>
            </a:r>
            <a:endParaRPr lang="en-US" sz="1400" dirty="0"/>
          </a:p>
        </p:txBody>
      </p:sp>
      <p:sp>
        <p:nvSpPr>
          <p:cNvPr id="28" name="chip 2"/>
          <p:cNvSpPr/>
          <p:nvPr/>
        </p:nvSpPr>
        <p:spPr>
          <a:xfrm>
            <a:off x="6172200" y="4206240"/>
            <a:ext cx="2377440" cy="502920"/>
          </a:xfrm>
          <a:prstGeom prst="roundRect">
            <a:avLst>
              <a:gd name="adj" fmla="val 49091"/>
            </a:avLst>
          </a:prstGeom>
          <a:solidFill>
            <a:srgbClr val="141A3F">
              <a:alpha val="90000"/>
            </a:srgbClr>
          </a:solidFill>
          <a:ln w="12700">
            <a:solidFill>
              <a:srgbClr val="5CC8F0"/>
            </a:solidFill>
            <a:prstDash val="solid"/>
          </a:ln>
        </p:spPr>
      </p:sp>
      <p:sp>
        <p:nvSpPr>
          <p:cNvPr id="29" name="chip text 2"/>
          <p:cNvSpPr txBox="1"/>
          <p:nvPr/>
        </p:nvSpPr>
        <p:spPr>
          <a:xfrm>
            <a:off x="6172200" y="4206240"/>
            <a:ext cx="2377440" cy="502920"/>
          </a:xfrm>
          <a:prstGeom prst="rect">
            <a:avLst/>
          </a:prstGeom>
          <a:noFill/>
          <a:ln/>
        </p:spPr>
        <p:txBody>
          <a:bodyPr wrap="square" lIns="0" tIns="0" rIns="0" bIns="0" rtlCol="0" anchor="ctr"/>
          <a:lstStyle/>
          <a:p>
            <a:pPr algn="ctr" indent="0" marL="0">
              <a:buNone/>
            </a:pPr>
            <a:r>
              <a:rPr lang="en-US" sz="1400" b="1" dirty="0">
                <a:solidFill>
                  <a:schemeClr val="accent2"/>
                </a:solidFill>
                <a:latin typeface="Calibri" pitchFamily="34" charset="0"/>
                <a:ea typeface="Calibri" pitchFamily="34" charset="-122"/>
                <a:cs typeface="Calibri" pitchFamily="34" charset="-120"/>
              </a:rPr>
              <a:t>18 min end-to-end</a:t>
            </a:r>
            <a:endParaRPr lang="en-US" sz="1400" dirty="0"/>
          </a:p>
        </p:txBody>
      </p:sp>
      <p:sp>
        <p:nvSpPr>
          <p:cNvPr id="30" name="chip 3"/>
          <p:cNvSpPr/>
          <p:nvPr/>
        </p:nvSpPr>
        <p:spPr>
          <a:xfrm>
            <a:off x="8778240" y="4206240"/>
            <a:ext cx="2377440" cy="502920"/>
          </a:xfrm>
          <a:prstGeom prst="roundRect">
            <a:avLst>
              <a:gd name="adj" fmla="val 49091"/>
            </a:avLst>
          </a:prstGeom>
          <a:solidFill>
            <a:srgbClr val="141A3F">
              <a:alpha val="90000"/>
            </a:srgbClr>
          </a:solidFill>
          <a:ln w="12700">
            <a:solidFill>
              <a:srgbClr val="5CC8F0"/>
            </a:solidFill>
            <a:prstDash val="solid"/>
          </a:ln>
        </p:spPr>
      </p:sp>
      <p:sp>
        <p:nvSpPr>
          <p:cNvPr id="31" name="chip text 3"/>
          <p:cNvSpPr txBox="1"/>
          <p:nvPr/>
        </p:nvSpPr>
        <p:spPr>
          <a:xfrm>
            <a:off x="8778240" y="4206240"/>
            <a:ext cx="2377440" cy="502920"/>
          </a:xfrm>
          <a:prstGeom prst="rect">
            <a:avLst/>
          </a:prstGeom>
          <a:noFill/>
          <a:ln/>
        </p:spPr>
        <p:txBody>
          <a:bodyPr wrap="square" lIns="0" tIns="0" rIns="0" bIns="0" rtlCol="0" anchor="ctr"/>
          <a:lstStyle/>
          <a:p>
            <a:pPr algn="ctr" indent="0" marL="0">
              <a:buNone/>
            </a:pPr>
            <a:r>
              <a:rPr lang="en-US" sz="1400" b="1" dirty="0">
                <a:solidFill>
                  <a:schemeClr val="accent2"/>
                </a:solidFill>
                <a:latin typeface="Calibri" pitchFamily="34" charset="0"/>
                <a:ea typeface="Calibri" pitchFamily="34" charset="-122"/>
                <a:cs typeface="Calibri" pitchFamily="34" charset="-120"/>
              </a:rPr>
              <a:t>Predicts unseen pixels</a:t>
            </a:r>
            <a:endParaRPr lang="en-US" sz="14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From baseline to best model</a:t>
            </a:r>
            <a:endParaRPr lang="en-US" sz="3000" dirty="0"/>
          </a:p>
        </p:txBody>
      </p:sp>
      <p:sp>
        <p:nvSpPr>
          <p:cNvPr id="3" name="models card"/>
          <p:cNvSpPr/>
          <p:nvPr/>
        </p:nvSpPr>
        <p:spPr>
          <a:xfrm>
            <a:off x="502920" y="1280160"/>
            <a:ext cx="7680960" cy="4069080"/>
          </a:xfrm>
          <a:prstGeom prst="roundRect">
            <a:avLst>
              <a:gd name="adj" fmla="val 2697"/>
            </a:avLst>
          </a:prstGeom>
          <a:solidFill>
            <a:schemeClr val="tx2">
              <a:alpha val="78000"/>
            </a:schemeClr>
          </a:solidFill>
          <a:ln w="9525">
            <a:solidFill>
              <a:srgbClr val="2A3366"/>
            </a:solidFill>
            <a:prstDash val="solid"/>
          </a:ln>
        </p:spPr>
      </p:sp>
      <p:graphicFrame>
        <p:nvGraphicFramePr>
          <p:cNvPr id="4" name="models chart" descr=""/>
          <p:cNvGraphicFramePr/>
          <p:nvPr/>
        </p:nvGraphicFramePr>
        <p:xfrm>
          <a:off x="640080" y="1371600"/>
          <a:ext cx="7406640" cy="3886200"/>
        </p:xfrm>
        <a:graphic xmlns:a="http://schemas.openxmlformats.org/drawingml/2006/main">
          <a:graphicData uri="http://schemas.openxmlformats.org/drawingml/2006/chart">
            <c:chart xmlns:c="http://schemas.openxmlformats.org/drawingml/2006/chart" r:id="rId1"/>
          </a:graphicData>
        </a:graphic>
      </p:graphicFrame>
      <p:sp>
        <p:nvSpPr>
          <p:cNvPr id="5" name="best card"/>
          <p:cNvSpPr/>
          <p:nvPr/>
        </p:nvSpPr>
        <p:spPr>
          <a:xfrm>
            <a:off x="8458200" y="1280160"/>
            <a:ext cx="3246120" cy="1920240"/>
          </a:xfrm>
          <a:prstGeom prst="roundRect">
            <a:avLst>
              <a:gd name="adj" fmla="val 5714"/>
            </a:avLst>
          </a:prstGeom>
          <a:solidFill>
            <a:schemeClr val="tx2">
              <a:alpha val="85000"/>
            </a:schemeClr>
          </a:solidFill>
          <a:ln w="9525">
            <a:solidFill>
              <a:srgbClr val="2A3366"/>
            </a:solidFill>
            <a:prstDash val="solid"/>
          </a:ln>
        </p:spPr>
      </p:sp>
      <p:sp>
        <p:nvSpPr>
          <p:cNvPr id="6" name="transfer card"/>
          <p:cNvSpPr/>
          <p:nvPr/>
        </p:nvSpPr>
        <p:spPr>
          <a:xfrm>
            <a:off x="8458200" y="3429000"/>
            <a:ext cx="3246120" cy="1920240"/>
          </a:xfrm>
          <a:prstGeom prst="roundRect">
            <a:avLst>
              <a:gd name="adj" fmla="val 5714"/>
            </a:avLst>
          </a:prstGeom>
          <a:solidFill>
            <a:schemeClr val="tx2">
              <a:alpha val="85000"/>
            </a:schemeClr>
          </a:solidFill>
          <a:ln w="9525">
            <a:solidFill>
              <a:srgbClr val="2A3366"/>
            </a:solidFill>
            <a:prstDash val="solid"/>
          </a:ln>
        </p:spPr>
      </p:sp>
      <p:sp>
        <p:nvSpPr>
          <p:cNvPr id="7" name="best num"/>
          <p:cNvSpPr txBox="1"/>
          <p:nvPr/>
        </p:nvSpPr>
        <p:spPr>
          <a:xfrm>
            <a:off x="8641080" y="1417320"/>
            <a:ext cx="292608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0.574 → 0.652</a:t>
            </a:r>
            <a:endParaRPr lang="en-US" sz="2800" dirty="0"/>
          </a:p>
        </p:txBody>
      </p:sp>
      <p:sp>
        <p:nvSpPr>
          <p:cNvPr id="8" name="best text"/>
          <p:cNvSpPr txBox="1"/>
          <p:nvPr/>
        </p:nvSpPr>
        <p:spPr>
          <a:xfrm>
            <a:off x="8641080" y="2011680"/>
            <a:ext cx="2926080" cy="8229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Madrid: starter baseline → our ensemble</a:t>
            </a:r>
            <a:endParaRPr lang="en-US" sz="1400" dirty="0"/>
          </a:p>
        </p:txBody>
      </p:sp>
      <p:sp>
        <p:nvSpPr>
          <p:cNvPr id="9" name="transfer num"/>
          <p:cNvSpPr txBox="1"/>
          <p:nvPr/>
        </p:nvSpPr>
        <p:spPr>
          <a:xfrm>
            <a:off x="8641080" y="3566160"/>
            <a:ext cx="292608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0.593</a:t>
            </a:r>
            <a:endParaRPr lang="en-US" sz="3000" dirty="0"/>
          </a:p>
        </p:txBody>
      </p:sp>
      <p:sp>
        <p:nvSpPr>
          <p:cNvPr id="10" name="transfer text"/>
          <p:cNvSpPr txBox="1"/>
          <p:nvPr/>
        </p:nvSpPr>
        <p:spPr>
          <a:xfrm>
            <a:off x="8641080" y="4160520"/>
            <a:ext cx="2926080" cy="8229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CatBoost travels best → our Amsterdam base</a:t>
            </a:r>
            <a:endParaRPr lang="en-US" sz="14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Transferring to Amsterdam</a:t>
            </a:r>
            <a:endParaRPr lang="en-US" sz="3000" dirty="0"/>
          </a:p>
        </p:txBody>
      </p:sp>
      <p:sp>
        <p:nvSpPr>
          <p:cNvPr id="3" name="b1"/>
          <p:cNvSpPr/>
          <p:nvPr/>
        </p:nvSpPr>
        <p:spPr>
          <a:xfrm>
            <a:off x="502920" y="2057400"/>
            <a:ext cx="1920240" cy="1463040"/>
          </a:xfrm>
          <a:prstGeom prst="roundRect">
            <a:avLst>
              <a:gd name="adj" fmla="val 6250"/>
            </a:avLst>
          </a:prstGeom>
          <a:solidFill>
            <a:srgbClr val="141A3F">
              <a:alpha val="92000"/>
            </a:srgbClr>
          </a:solidFill>
          <a:ln w="19050">
            <a:solidFill>
              <a:srgbClr val="F2B33D"/>
            </a:solidFill>
            <a:prstDash val="solid"/>
          </a:ln>
        </p:spPr>
      </p:sp>
      <p:sp>
        <p:nvSpPr>
          <p:cNvPr id="4" name="b1 t"/>
          <p:cNvSpPr txBox="1"/>
          <p:nvPr/>
        </p:nvSpPr>
        <p:spPr>
          <a:xfrm>
            <a:off x="612648" y="2194560"/>
            <a:ext cx="1700784" cy="365760"/>
          </a:xfrm>
          <a:prstGeom prst="rect">
            <a:avLst/>
          </a:prstGeom>
          <a:noFill/>
          <a:ln/>
        </p:spPr>
        <p:txBody>
          <a:bodyPr wrap="square" lIns="0" tIns="0" rIns="0" bIns="0" rtlCol="0" anchor="t"/>
          <a:lstStyle/>
          <a:p>
            <a:pPr algn="ctr" indent="0" marL="0">
              <a:buNone/>
            </a:pPr>
            <a:r>
              <a:rPr lang="en-US" sz="1600" b="1" dirty="0">
                <a:solidFill>
                  <a:srgbClr val="F2B33D"/>
                </a:solidFill>
                <a:latin typeface="Calibri" pitchFamily="34" charset="0"/>
                <a:ea typeface="Calibri" pitchFamily="34" charset="-122"/>
                <a:cs typeface="Calibri" pitchFamily="34" charset="-120"/>
              </a:rPr>
              <a:t>Madrid model</a:t>
            </a:r>
            <a:endParaRPr lang="en-US" sz="1600" dirty="0"/>
          </a:p>
        </p:txBody>
      </p:sp>
      <p:sp>
        <p:nvSpPr>
          <p:cNvPr id="5" name="b1 d"/>
          <p:cNvSpPr txBox="1"/>
          <p:nvPr/>
        </p:nvSpPr>
        <p:spPr>
          <a:xfrm>
            <a:off x="612648" y="2606040"/>
            <a:ext cx="1700784" cy="82296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CatBoost</a:t>
            </a:r>
            <a:endParaRPr lang="en-US" sz="1300" dirty="0"/>
          </a:p>
          <a:p>
            <a:pPr algn="ctr" indent="0" marL="0">
              <a:buNone/>
            </a:pPr>
            <a:r>
              <a:rPr lang="en-US" sz="1300" dirty="0">
                <a:solidFill>
                  <a:schemeClr val="bg1"/>
                </a:solidFill>
                <a:latin typeface="Calibri" pitchFamily="34" charset="0"/>
                <a:ea typeface="Calibri" pitchFamily="34" charset="-122"/>
                <a:cs typeface="Calibri" pitchFamily="34" charset="-120"/>
              </a:rPr>
              <a:t>per-city scaled</a:t>
            </a:r>
            <a:endParaRPr lang="en-US" sz="1300" dirty="0"/>
          </a:p>
        </p:txBody>
      </p:sp>
      <p:pic>
        <p:nvPicPr>
          <p:cNvPr id="6" name="arrow 1" descr="preencoded.png">    </p:cNvPr>
          <p:cNvPicPr>
            <a:picLocks noChangeAspect="1"/>
          </p:cNvPicPr>
          <p:nvPr/>
        </p:nvPicPr>
        <p:blipFill>
          <a:blip r:embed="rId1"/>
          <a:stretch>
            <a:fillRect/>
          </a:stretch>
        </p:blipFill>
        <p:spPr>
          <a:xfrm>
            <a:off x="2514600" y="2633472"/>
            <a:ext cx="292608" cy="292608"/>
          </a:xfrm>
          <a:prstGeom prst="rect">
            <a:avLst/>
          </a:prstGeom>
        </p:spPr>
      </p:pic>
      <p:sp>
        <p:nvSpPr>
          <p:cNvPr id="7" name="b2"/>
          <p:cNvSpPr/>
          <p:nvPr/>
        </p:nvSpPr>
        <p:spPr>
          <a:xfrm>
            <a:off x="2926080" y="1280160"/>
            <a:ext cx="2377440" cy="914400"/>
          </a:xfrm>
          <a:prstGeom prst="roundRect">
            <a:avLst>
              <a:gd name="adj" fmla="val 10000"/>
            </a:avLst>
          </a:prstGeom>
          <a:solidFill>
            <a:srgbClr val="141A3F">
              <a:alpha val="92000"/>
            </a:srgbClr>
          </a:solidFill>
          <a:ln w="19050">
            <a:solidFill>
              <a:srgbClr val="5CC8F0"/>
            </a:solidFill>
            <a:prstDash val="solid"/>
          </a:ln>
        </p:spPr>
      </p:sp>
      <p:sp>
        <p:nvSpPr>
          <p:cNvPr id="8" name="b2 t"/>
          <p:cNvSpPr txBox="1"/>
          <p:nvPr/>
        </p:nvSpPr>
        <p:spPr>
          <a:xfrm>
            <a:off x="3035808" y="1417320"/>
            <a:ext cx="2157984" cy="365760"/>
          </a:xfrm>
          <a:prstGeom prst="rect">
            <a:avLst/>
          </a:prstGeom>
          <a:noFill/>
          <a:ln/>
        </p:spPr>
        <p:txBody>
          <a:bodyPr wrap="square" lIns="0" tIns="0" rIns="0" bIns="0" rtlCol="0" anchor="t"/>
          <a:lstStyle/>
          <a:p>
            <a:pPr algn="ctr" indent="0" marL="0">
              <a:buNone/>
            </a:pPr>
            <a:r>
              <a:rPr lang="en-US" sz="1600" b="1" dirty="0">
                <a:solidFill>
                  <a:srgbClr val="5CC8F0"/>
                </a:solidFill>
                <a:latin typeface="Calibri" pitchFamily="34" charset="0"/>
                <a:ea typeface="Calibri" pitchFamily="34" charset="-122"/>
                <a:cs typeface="Calibri" pitchFamily="34" charset="-120"/>
              </a:rPr>
              <a:t>Recalibrate</a:t>
            </a:r>
            <a:endParaRPr lang="en-US" sz="1600" dirty="0"/>
          </a:p>
        </p:txBody>
      </p:sp>
      <p:sp>
        <p:nvSpPr>
          <p:cNvPr id="9" name="b2 d"/>
          <p:cNvSpPr txBox="1"/>
          <p:nvPr/>
        </p:nvSpPr>
        <p:spPr>
          <a:xfrm>
            <a:off x="3035808" y="1828800"/>
            <a:ext cx="2157984" cy="27432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re-read with n labels</a:t>
            </a:r>
            <a:endParaRPr lang="en-US" sz="1300" dirty="0"/>
          </a:p>
        </p:txBody>
      </p:sp>
      <p:sp>
        <p:nvSpPr>
          <p:cNvPr id="10" name="b3"/>
          <p:cNvSpPr/>
          <p:nvPr/>
        </p:nvSpPr>
        <p:spPr>
          <a:xfrm>
            <a:off x="2926080" y="2331720"/>
            <a:ext cx="2377440" cy="914400"/>
          </a:xfrm>
          <a:prstGeom prst="roundRect">
            <a:avLst>
              <a:gd name="adj" fmla="val 10000"/>
            </a:avLst>
          </a:prstGeom>
          <a:solidFill>
            <a:srgbClr val="141A3F">
              <a:alpha val="92000"/>
            </a:srgbClr>
          </a:solidFill>
          <a:ln w="19050">
            <a:solidFill>
              <a:srgbClr val="6EE7B7"/>
            </a:solidFill>
            <a:prstDash val="solid"/>
          </a:ln>
        </p:spPr>
      </p:sp>
      <p:sp>
        <p:nvSpPr>
          <p:cNvPr id="11" name="b3 t"/>
          <p:cNvSpPr txBox="1"/>
          <p:nvPr/>
        </p:nvSpPr>
        <p:spPr>
          <a:xfrm>
            <a:off x="3035808" y="2468880"/>
            <a:ext cx="2157984" cy="365760"/>
          </a:xfrm>
          <a:prstGeom prst="rect">
            <a:avLst/>
          </a:prstGeom>
          <a:noFill/>
          <a:ln/>
        </p:spPr>
        <p:txBody>
          <a:bodyPr wrap="square" lIns="0" tIns="0" rIns="0" bIns="0" rtlCol="0" anchor="t"/>
          <a:lstStyle/>
          <a:p>
            <a:pPr algn="ctr" indent="0" marL="0">
              <a:buNone/>
            </a:pPr>
            <a:r>
              <a:rPr lang="en-US" sz="1600" b="1" dirty="0">
                <a:solidFill>
                  <a:srgbClr val="6EE7B7"/>
                </a:solidFill>
                <a:latin typeface="Calibri" pitchFamily="34" charset="0"/>
                <a:ea typeface="Calibri" pitchFamily="34" charset="-122"/>
                <a:cs typeface="Calibri" pitchFamily="34" charset="-120"/>
              </a:rPr>
              <a:t>Fine-tune</a:t>
            </a:r>
            <a:endParaRPr lang="en-US" sz="1600" dirty="0"/>
          </a:p>
        </p:txBody>
      </p:sp>
      <p:sp>
        <p:nvSpPr>
          <p:cNvPr id="12" name="b3 d"/>
          <p:cNvSpPr txBox="1"/>
          <p:nvPr/>
        </p:nvSpPr>
        <p:spPr>
          <a:xfrm>
            <a:off x="3035808" y="2880360"/>
            <a:ext cx="2157984" cy="27432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Madrid + weighted labels</a:t>
            </a:r>
            <a:endParaRPr lang="en-US" sz="1300" dirty="0"/>
          </a:p>
        </p:txBody>
      </p:sp>
      <p:sp>
        <p:nvSpPr>
          <p:cNvPr id="13" name="b4"/>
          <p:cNvSpPr/>
          <p:nvPr/>
        </p:nvSpPr>
        <p:spPr>
          <a:xfrm>
            <a:off x="2926080" y="3383280"/>
            <a:ext cx="2377440" cy="914400"/>
          </a:xfrm>
          <a:prstGeom prst="roundRect">
            <a:avLst>
              <a:gd name="adj" fmla="val 10000"/>
            </a:avLst>
          </a:prstGeom>
          <a:solidFill>
            <a:srgbClr val="141A3F">
              <a:alpha val="92000"/>
            </a:srgbClr>
          </a:solidFill>
          <a:ln w="19050">
            <a:solidFill>
              <a:srgbClr val="9D7BFF"/>
            </a:solidFill>
            <a:prstDash val="solid"/>
          </a:ln>
        </p:spPr>
      </p:sp>
      <p:sp>
        <p:nvSpPr>
          <p:cNvPr id="14" name="b4 t"/>
          <p:cNvSpPr txBox="1"/>
          <p:nvPr/>
        </p:nvSpPr>
        <p:spPr>
          <a:xfrm>
            <a:off x="3035808" y="3520440"/>
            <a:ext cx="2157984" cy="365760"/>
          </a:xfrm>
          <a:prstGeom prst="rect">
            <a:avLst/>
          </a:prstGeom>
          <a:noFill/>
          <a:ln/>
        </p:spPr>
        <p:txBody>
          <a:bodyPr wrap="square" lIns="0" tIns="0" rIns="0" bIns="0" rtlCol="0" anchor="t"/>
          <a:lstStyle/>
          <a:p>
            <a:pPr algn="ctr" indent="0" marL="0">
              <a:buNone/>
            </a:pPr>
            <a:r>
              <a:rPr lang="en-US" sz="1600" b="1" dirty="0">
                <a:solidFill>
                  <a:srgbClr val="9D7BFF"/>
                </a:solidFill>
                <a:latin typeface="Calibri" pitchFamily="34" charset="0"/>
                <a:ea typeface="Calibri" pitchFamily="34" charset="-122"/>
                <a:cs typeface="Calibri" pitchFamily="34" charset="-120"/>
              </a:rPr>
              <a:t>Self-train</a:t>
            </a:r>
            <a:endParaRPr lang="en-US" sz="1600" dirty="0"/>
          </a:p>
        </p:txBody>
      </p:sp>
      <p:sp>
        <p:nvSpPr>
          <p:cNvPr id="15" name="b4 d"/>
          <p:cNvSpPr txBox="1"/>
          <p:nvPr/>
        </p:nvSpPr>
        <p:spPr>
          <a:xfrm>
            <a:off x="3035808" y="3931920"/>
            <a:ext cx="2157984" cy="27432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confident unlabelled pixels</a:t>
            </a:r>
            <a:endParaRPr lang="en-US" sz="1300" dirty="0"/>
          </a:p>
        </p:txBody>
      </p:sp>
      <p:pic>
        <p:nvPicPr>
          <p:cNvPr id="16" name="arrow 2" descr="preencoded.png">    </p:cNvPr>
          <p:cNvPicPr>
            <a:picLocks noChangeAspect="1"/>
          </p:cNvPicPr>
          <p:nvPr/>
        </p:nvPicPr>
        <p:blipFill>
          <a:blip r:embed="rId2"/>
          <a:stretch>
            <a:fillRect/>
          </a:stretch>
        </p:blipFill>
        <p:spPr>
          <a:xfrm>
            <a:off x="5394960" y="2633472"/>
            <a:ext cx="292608" cy="292608"/>
          </a:xfrm>
          <a:prstGeom prst="rect">
            <a:avLst/>
          </a:prstGeom>
        </p:spPr>
      </p:pic>
      <p:sp>
        <p:nvSpPr>
          <p:cNvPr id="17" name="b5"/>
          <p:cNvSpPr/>
          <p:nvPr/>
        </p:nvSpPr>
        <p:spPr>
          <a:xfrm>
            <a:off x="5806440" y="2057400"/>
            <a:ext cx="1737360" cy="1463040"/>
          </a:xfrm>
          <a:prstGeom prst="roundRect">
            <a:avLst>
              <a:gd name="adj" fmla="val 6250"/>
            </a:avLst>
          </a:prstGeom>
          <a:solidFill>
            <a:srgbClr val="141A3F">
              <a:alpha val="92000"/>
            </a:srgbClr>
          </a:solidFill>
          <a:ln w="19050">
            <a:solidFill>
              <a:srgbClr val="FFFFFF"/>
            </a:solidFill>
            <a:prstDash val="solid"/>
          </a:ln>
        </p:spPr>
      </p:sp>
      <p:sp>
        <p:nvSpPr>
          <p:cNvPr id="18" name="b5 t"/>
          <p:cNvSpPr txBox="1"/>
          <p:nvPr/>
        </p:nvSpPr>
        <p:spPr>
          <a:xfrm>
            <a:off x="5916168" y="2194560"/>
            <a:ext cx="1517904"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Ensemble</a:t>
            </a:r>
            <a:endParaRPr lang="en-US" sz="1600" dirty="0"/>
          </a:p>
        </p:txBody>
      </p:sp>
      <p:sp>
        <p:nvSpPr>
          <p:cNvPr id="19" name="b5 d"/>
          <p:cNvSpPr txBox="1"/>
          <p:nvPr/>
        </p:nvSpPr>
        <p:spPr>
          <a:xfrm>
            <a:off x="5916168" y="2606040"/>
            <a:ext cx="1517904" cy="82296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average of the three</a:t>
            </a:r>
            <a:endParaRPr lang="en-US" sz="1300" dirty="0"/>
          </a:p>
        </p:txBody>
      </p:sp>
      <p:pic>
        <p:nvPicPr>
          <p:cNvPr id="20" name="arrow 3" descr="preencoded.png">    </p:cNvPr>
          <p:cNvPicPr>
            <a:picLocks noChangeAspect="1"/>
          </p:cNvPicPr>
          <p:nvPr/>
        </p:nvPicPr>
        <p:blipFill>
          <a:blip r:embed="rId3"/>
          <a:stretch>
            <a:fillRect/>
          </a:stretch>
        </p:blipFill>
        <p:spPr>
          <a:xfrm>
            <a:off x="7635240" y="2633472"/>
            <a:ext cx="292608" cy="292608"/>
          </a:xfrm>
          <a:prstGeom prst="rect">
            <a:avLst/>
          </a:prstGeom>
        </p:spPr>
      </p:pic>
      <p:sp>
        <p:nvSpPr>
          <p:cNvPr id="21" name="b6"/>
          <p:cNvSpPr/>
          <p:nvPr/>
        </p:nvSpPr>
        <p:spPr>
          <a:xfrm>
            <a:off x="8046720" y="2057400"/>
            <a:ext cx="1737360" cy="1463040"/>
          </a:xfrm>
          <a:prstGeom prst="roundRect">
            <a:avLst>
              <a:gd name="adj" fmla="val 6250"/>
            </a:avLst>
          </a:prstGeom>
          <a:solidFill>
            <a:srgbClr val="141A3F">
              <a:alpha val="92000"/>
            </a:srgbClr>
          </a:solidFill>
          <a:ln w="19050">
            <a:solidFill>
              <a:srgbClr val="F2B33D"/>
            </a:solidFill>
            <a:prstDash val="solid"/>
          </a:ln>
        </p:spPr>
      </p:sp>
      <p:sp>
        <p:nvSpPr>
          <p:cNvPr id="22" name="b6 t"/>
          <p:cNvSpPr txBox="1"/>
          <p:nvPr/>
        </p:nvSpPr>
        <p:spPr>
          <a:xfrm>
            <a:off x="8156448" y="2194560"/>
            <a:ext cx="1517904" cy="365760"/>
          </a:xfrm>
          <a:prstGeom prst="rect">
            <a:avLst/>
          </a:prstGeom>
          <a:noFill/>
          <a:ln/>
        </p:spPr>
        <p:txBody>
          <a:bodyPr wrap="square" lIns="0" tIns="0" rIns="0" bIns="0" rtlCol="0" anchor="t"/>
          <a:lstStyle/>
          <a:p>
            <a:pPr algn="ctr" indent="0" marL="0">
              <a:buNone/>
            </a:pPr>
            <a:r>
              <a:rPr lang="en-US" sz="1600" b="1" dirty="0">
                <a:solidFill>
                  <a:srgbClr val="F2B33D"/>
                </a:solidFill>
                <a:latin typeface="Calibri" pitchFamily="34" charset="0"/>
                <a:ea typeface="Calibri" pitchFamily="34" charset="-122"/>
                <a:cs typeface="Calibri" pitchFamily="34" charset="-120"/>
              </a:rPr>
              <a:t>Class-mix check</a:t>
            </a:r>
            <a:endParaRPr lang="en-US" sz="1600" dirty="0"/>
          </a:p>
        </p:txBody>
      </p:sp>
      <p:sp>
        <p:nvSpPr>
          <p:cNvPr id="23" name="b6 d"/>
          <p:cNvSpPr txBox="1"/>
          <p:nvPr/>
        </p:nvSpPr>
        <p:spPr>
          <a:xfrm>
            <a:off x="8156448" y="2606040"/>
            <a:ext cx="1517904" cy="82296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only when n ≥ 25</a:t>
            </a:r>
            <a:endParaRPr lang="en-US" sz="1300" dirty="0"/>
          </a:p>
        </p:txBody>
      </p:sp>
      <p:pic>
        <p:nvPicPr>
          <p:cNvPr id="24" name="arrow 4" descr="preencoded.png">    </p:cNvPr>
          <p:cNvPicPr>
            <a:picLocks noChangeAspect="1"/>
          </p:cNvPicPr>
          <p:nvPr/>
        </p:nvPicPr>
        <p:blipFill>
          <a:blip r:embed="rId4"/>
          <a:stretch>
            <a:fillRect/>
          </a:stretch>
        </p:blipFill>
        <p:spPr>
          <a:xfrm>
            <a:off x="9875520" y="2633472"/>
            <a:ext cx="292608" cy="292608"/>
          </a:xfrm>
          <a:prstGeom prst="rect">
            <a:avLst/>
          </a:prstGeom>
        </p:spPr>
      </p:pic>
      <p:sp>
        <p:nvSpPr>
          <p:cNvPr id="25" name="b7"/>
          <p:cNvSpPr/>
          <p:nvPr/>
        </p:nvSpPr>
        <p:spPr>
          <a:xfrm>
            <a:off x="10287000" y="2057400"/>
            <a:ext cx="1417320" cy="1463040"/>
          </a:xfrm>
          <a:prstGeom prst="roundRect">
            <a:avLst>
              <a:gd name="adj" fmla="val 6452"/>
            </a:avLst>
          </a:prstGeom>
          <a:solidFill>
            <a:srgbClr val="141A3F">
              <a:alpha val="92000"/>
            </a:srgbClr>
          </a:solidFill>
          <a:ln w="19050">
            <a:solidFill>
              <a:srgbClr val="F2B33D"/>
            </a:solidFill>
            <a:prstDash val="solid"/>
          </a:ln>
        </p:spPr>
      </p:sp>
      <p:sp>
        <p:nvSpPr>
          <p:cNvPr id="26" name="b7 t"/>
          <p:cNvSpPr txBox="1"/>
          <p:nvPr/>
        </p:nvSpPr>
        <p:spPr>
          <a:xfrm>
            <a:off x="10396728" y="2194560"/>
            <a:ext cx="1197864" cy="365760"/>
          </a:xfrm>
          <a:prstGeom prst="rect">
            <a:avLst/>
          </a:prstGeom>
          <a:noFill/>
          <a:ln/>
        </p:spPr>
        <p:txBody>
          <a:bodyPr wrap="square" lIns="0" tIns="0" rIns="0" bIns="0" rtlCol="0" anchor="t"/>
          <a:lstStyle/>
          <a:p>
            <a:pPr algn="ctr" indent="0" marL="0">
              <a:buNone/>
            </a:pPr>
            <a:r>
              <a:rPr lang="en-US" sz="1600" b="1" dirty="0">
                <a:solidFill>
                  <a:srgbClr val="F2B33D"/>
                </a:solidFill>
                <a:latin typeface="Calibri" pitchFamily="34" charset="0"/>
                <a:ea typeface="Calibri" pitchFamily="34" charset="-122"/>
                <a:cs typeface="Calibri" pitchFamily="34" charset="-120"/>
              </a:rPr>
              <a:t>Smooth</a:t>
            </a:r>
            <a:endParaRPr lang="en-US" sz="1600" dirty="0"/>
          </a:p>
        </p:txBody>
      </p:sp>
      <p:sp>
        <p:nvSpPr>
          <p:cNvPr id="27" name="b7 d"/>
          <p:cNvSpPr txBox="1"/>
          <p:nvPr/>
        </p:nvSpPr>
        <p:spPr>
          <a:xfrm>
            <a:off x="10396728" y="2606040"/>
            <a:ext cx="1197864" cy="82296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with neighbours</a:t>
            </a:r>
            <a:endParaRPr lang="en-US" sz="1300" dirty="0"/>
          </a:p>
        </p:txBody>
      </p:sp>
      <p:sp>
        <p:nvSpPr>
          <p:cNvPr id="28" name="transfer claim"/>
          <p:cNvSpPr txBox="1"/>
          <p:nvPr/>
        </p:nvSpPr>
        <p:spPr>
          <a:xfrm>
            <a:off x="502920" y="4663440"/>
            <a:ext cx="11155680" cy="411480"/>
          </a:xfrm>
          <a:prstGeom prst="rect">
            <a:avLst/>
          </a:prstGeom>
          <a:noFill/>
          <a:ln/>
        </p:spPr>
        <p:txBody>
          <a:bodyPr wrap="square" lIns="0" tIns="0" rIns="0" bIns="0" rtlCol="0" anchor="t"/>
          <a:lstStyle/>
          <a:p>
            <a:pPr algn="ctr" indent="0" marL="0">
              <a:buNone/>
            </a:pPr>
            <a:r>
              <a:rPr lang="en-US" sz="1800" dirty="0">
                <a:solidFill>
                  <a:srgbClr val="FFFFFF"/>
                </a:solidFill>
                <a:latin typeface="Calibri" pitchFamily="34" charset="0"/>
                <a:ea typeface="Calibri" pitchFamily="34" charset="-122"/>
                <a:cs typeface="Calibri" pitchFamily="34" charset="-120"/>
              </a:rPr>
              <a:t>With only 5 labels per class, Amsterdam already matches Madrid  </a:t>
            </a:r>
            <a:pPr algn="ctr" indent="0" marL="0">
              <a:buNone/>
            </a:pPr>
            <a:r>
              <a:rPr lang="en-US" sz="1800" b="1" dirty="0">
                <a:solidFill>
                  <a:srgbClr val="F2B33D"/>
                </a:solidFill>
                <a:latin typeface="Calibri" pitchFamily="34" charset="0"/>
                <a:ea typeface="Calibri" pitchFamily="34" charset="-122"/>
                <a:cs typeface="Calibri" pitchFamily="34" charset="-120"/>
              </a:rPr>
              <a:t>(0.654 vs 0.652)</a:t>
            </a:r>
            <a:endParaRPr lang="en-US" sz="18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Results: baseline vs best</a:t>
            </a:r>
            <a:endParaRPr lang="en-US" sz="3000" dirty="0"/>
          </a:p>
        </p:txBody>
      </p:sp>
      <p:graphicFrame>
        <p:nvGraphicFramePr>
          <p:cNvPr id="9" name="results 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3200400"/>
                <a:gridCol w="2103120"/>
                <a:gridCol w="2194560"/>
                <a:gridCol w="1371600"/>
                <a:gridCol w="2286000"/>
              </a:tblGrid>
              <a:tr h="402336">
                <a:tc>
                  <a:txBody>
                    <a:bodyPr/>
                    <a:lstStyle/>
                    <a:p>
                      <a:pPr algn="ctr" indent="0" marL="0">
                        <a:buNone/>
                      </a:pPr>
                      <a:r>
                        <a:rPr lang="en-US" sz="1500" b="1" dirty="0">
                          <a:solidFill>
                            <a:srgbClr val="0A0F2C"/>
                          </a:solidFill>
                          <a:latin typeface="Calibri" pitchFamily="34" charset="0"/>
                          <a:ea typeface="Calibri" pitchFamily="34" charset="-122"/>
                          <a:cs typeface="Calibri" pitchFamily="34" charset="-120"/>
                        </a:rPr>
                        <a:t>Setting (macro F1)</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F2B33D"/>
                    </a:solidFill>
                  </a:tcPr>
                </a:tc>
                <a:tc>
                  <a:txBody>
                    <a:bodyPr/>
                    <a:lstStyle/>
                    <a:p>
                      <a:pPr algn="ctr" indent="0" marL="0">
                        <a:buNone/>
                      </a:pPr>
                      <a:r>
                        <a:rPr lang="en-US" sz="1500" b="1" dirty="0">
                          <a:solidFill>
                            <a:srgbClr val="0A0F2C"/>
                          </a:solidFill>
                          <a:latin typeface="Calibri" pitchFamily="34" charset="0"/>
                          <a:ea typeface="Calibri" pitchFamily="34" charset="-122"/>
                          <a:cs typeface="Calibri" pitchFamily="34" charset="-120"/>
                        </a:rPr>
                        <a:t>Starter baseline</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F2B33D"/>
                    </a:solidFill>
                  </a:tcPr>
                </a:tc>
                <a:tc>
                  <a:txBody>
                    <a:bodyPr/>
                    <a:lstStyle/>
                    <a:p>
                      <a:pPr algn="ctr" indent="0" marL="0">
                        <a:buNone/>
                      </a:pPr>
                      <a:r>
                        <a:rPr lang="en-US" sz="1500" b="1" dirty="0">
                          <a:solidFill>
                            <a:srgbClr val="0A0F2C"/>
                          </a:solidFill>
                          <a:latin typeface="Calibri" pitchFamily="34" charset="0"/>
                          <a:ea typeface="Calibri" pitchFamily="34" charset="-122"/>
                          <a:cs typeface="Calibri" pitchFamily="34" charset="-120"/>
                        </a:rPr>
                        <a:t>Group 2</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F2B33D"/>
                    </a:solidFill>
                  </a:tcPr>
                </a:tc>
                <a:tc>
                  <a:txBody>
                    <a:bodyPr/>
                    <a:lstStyle/>
                    <a:p>
                      <a:pPr algn="ctr" indent="0" marL="0">
                        <a:buNone/>
                      </a:pPr>
                      <a:r>
                        <a:rPr lang="en-US" sz="1500" b="1" dirty="0">
                          <a:solidFill>
                            <a:srgbClr val="0A0F2C"/>
                          </a:solidFill>
                          <a:latin typeface="Calibri" pitchFamily="34" charset="0"/>
                          <a:ea typeface="Calibri" pitchFamily="34" charset="-122"/>
                          <a:cs typeface="Calibri" pitchFamily="34" charset="-120"/>
                        </a:rPr>
                        <a:t>Gain</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F2B33D"/>
                    </a:solidFill>
                  </a:tcPr>
                </a:tc>
                <a:tc>
                  <a:txBody>
                    <a:bodyPr/>
                    <a:lstStyle/>
                    <a:p>
                      <a:pPr algn="ctr" indent="0" marL="0">
                        <a:buNone/>
                      </a:pPr>
                      <a:r>
                        <a:rPr lang="en-US" sz="1500" b="1" dirty="0">
                          <a:solidFill>
                            <a:srgbClr val="0A0F2C"/>
                          </a:solidFill>
                          <a:latin typeface="Calibri" pitchFamily="34" charset="0"/>
                          <a:ea typeface="Calibri" pitchFamily="34" charset="-122"/>
                          <a:cs typeface="Calibri" pitchFamily="34" charset="-120"/>
                        </a:rPr>
                        <a:t>Unseen half *</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F2B33D"/>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Madrid — spatial CV</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0.574 ± 0.030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2B33D"/>
                          </a:solidFill>
                          <a:latin typeface="Calibri" pitchFamily="34" charset="0"/>
                          <a:ea typeface="Calibri" pitchFamily="34" charset="-122"/>
                          <a:cs typeface="Calibri" pitchFamily="34" charset="-120"/>
                        </a:rPr>
                        <a:t>0.652 ± 0.026</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+0.078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Madrid — random CV</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0.618 ± 0.005</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0.736 ± 0.003</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+0.118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no labels</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0.334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0.624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+0.290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 = 5</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0.502 ± 0.047</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0.654 ± 0.021</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+0.152</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0.652 ± 0.031</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 = 25</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0.593 ± 0.018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2B33D"/>
                          </a:solidFill>
                          <a:latin typeface="Calibri" pitchFamily="34" charset="0"/>
                          <a:ea typeface="Calibri" pitchFamily="34" charset="-122"/>
                          <a:cs typeface="Calibri" pitchFamily="34" charset="-120"/>
                        </a:rPr>
                        <a:t>0.687 ± 0.019</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+0.094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0.705 ± 0.008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 = 50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0.607 ± 0.011</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0.723 ± 0.004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+0.116</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0.717 ± 0.011</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 = 100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0.617 ± 0.008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0.740 ± 0.004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+0.123</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0.729 ± 0.008</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Amsterdam — n = 200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0.615 ± 0.004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2B33D"/>
                          </a:solidFill>
                          <a:latin typeface="Calibri" pitchFamily="34" charset="0"/>
                          <a:ea typeface="Calibri" pitchFamily="34" charset="-122"/>
                          <a:cs typeface="Calibri" pitchFamily="34" charset="-120"/>
                        </a:rPr>
                        <a:t>0.757 ± 0.002</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+0.142</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0.748 ± 0.004</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r h="402336">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Amsterdam — average</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dirty="0">
                          <a:solidFill>
                            <a:srgbClr val="C9D3F5"/>
                          </a:solidFill>
                          <a:latin typeface="Calibri" pitchFamily="34" charset="0"/>
                          <a:ea typeface="Calibri" pitchFamily="34" charset="-122"/>
                          <a:cs typeface="Calibri" pitchFamily="34" charset="-120"/>
                        </a:rPr>
                        <a:t>0.587</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F2B33D"/>
                          </a:solidFill>
                          <a:latin typeface="Calibri" pitchFamily="34" charset="0"/>
                          <a:ea typeface="Calibri" pitchFamily="34" charset="-122"/>
                          <a:cs typeface="Calibri" pitchFamily="34" charset="-120"/>
                        </a:rPr>
                        <a:t>0.712</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6EE7B7"/>
                          </a:solidFill>
                          <a:latin typeface="Calibri" pitchFamily="34" charset="0"/>
                          <a:ea typeface="Calibri" pitchFamily="34" charset="-122"/>
                          <a:cs typeface="Calibri" pitchFamily="34" charset="-120"/>
                        </a:rPr>
                        <a:t>+0.125</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c>
                  <a:txBody>
                    <a:bodyPr/>
                    <a:lstStyle/>
                    <a:p>
                      <a:pPr algn="ctr" indent="0" marL="0">
                        <a:buNone/>
                      </a:pPr>
                      <a:r>
                        <a:rPr lang="en-US" sz="1500" b="1" dirty="0">
                          <a:solidFill>
                            <a:srgbClr val="5CC8F0"/>
                          </a:solidFill>
                          <a:latin typeface="Calibri" pitchFamily="34" charset="0"/>
                          <a:ea typeface="Calibri" pitchFamily="34" charset="-122"/>
                          <a:cs typeface="Calibri" pitchFamily="34" charset="-120"/>
                        </a:rPr>
                        <a:t>0.710</a:t>
                      </a:r>
                      <a:endParaRPr lang="en-US" sz="1500" dirty="0">
                        <a:latin typeface="Calibri" charset="0"/>
                        <a:ea typeface="Calibri" charset="0"/>
                        <a:cs typeface="Calibri" charset="0"/>
                      </a:endParaRPr>
                    </a:p>
                  </a:txBody>
                  <a:tcPr marL="91440" marR="91440" marT="45720" marB="45720" anchor="ctr">
                    <a:lnL w="9525" cap="flat" cmpd="sng" algn="ctr">
                      <a:solidFill>
                        <a:srgbClr val="2A3366"/>
                      </a:solidFill>
                      <a:prstDash val="solid"/>
                      <a:round/>
                      <a:headEnd type="none" w="med" len="med"/>
                      <a:tailEnd type="none" w="med" len="med"/>
                    </a:lnL>
                    <a:lnR w="9525" cap="flat" cmpd="sng" algn="ctr">
                      <a:solidFill>
                        <a:srgbClr val="2A3366"/>
                      </a:solidFill>
                      <a:prstDash val="solid"/>
                      <a:round/>
                      <a:headEnd type="none" w="med" len="med"/>
                      <a:tailEnd type="none" w="med" len="med"/>
                    </a:lnR>
                    <a:lnT w="9525" cap="flat" cmpd="sng" algn="ctr">
                      <a:solidFill>
                        <a:srgbClr val="2A3366"/>
                      </a:solidFill>
                      <a:prstDash val="solid"/>
                      <a:round/>
                      <a:headEnd type="none" w="med" len="med"/>
                      <a:tailEnd type="none" w="med" len="med"/>
                    </a:lnT>
                    <a:lnB w="9525" cap="flat" cmpd="sng" algn="ctr">
                      <a:solidFill>
                        <a:srgbClr val="2A3366"/>
                      </a:solidFill>
                      <a:prstDash val="solid"/>
                      <a:round/>
                      <a:headEnd type="none" w="med" len="med"/>
                      <a:tailEnd type="none" w="med" len="med"/>
                    </a:lnB>
                    <a:solidFill>
                      <a:srgbClr val="141A3F"/>
                    </a:solidFill>
                  </a:tcPr>
                </a:tc>
              </a:tr>
            </a:tbl>
          </a:graphicData>
        </a:graphic>
      </p:graphicFrame>
      <p:sp>
        <p:nvSpPr>
          <p:cNvPr id="4" name="heldout note"/>
          <p:cNvSpPr txBox="1"/>
          <p:nvPr/>
        </p:nvSpPr>
        <p:spPr>
          <a:xfrm>
            <a:off x="502920" y="5285232"/>
            <a:ext cx="11155680" cy="274320"/>
          </a:xfrm>
          <a:prstGeom prst="rect">
            <a:avLst/>
          </a:prstGeom>
          <a:noFill/>
          <a:ln/>
        </p:spPr>
        <p:txBody>
          <a:bodyPr wrap="square" lIns="0" tIns="0" rIns="0" bIns="0" rtlCol="0" anchor="t"/>
          <a:lstStyle/>
          <a:p>
            <a:pPr indent="0" marL="0">
              <a:buNone/>
            </a:pPr>
            <a:r>
              <a:rPr lang="en-US" sz="1200" i="1" dirty="0">
                <a:solidFill>
                  <a:schemeClr val="bg2"/>
                </a:solidFill>
                <a:latin typeface="Calibri" pitchFamily="34" charset="0"/>
                <a:ea typeface="Calibri" pitchFamily="34" charset="-122"/>
                <a:cs typeface="Calibri" pitchFamily="34" charset="-120"/>
              </a:rPr>
              <a:t>* Stricter check after the method was frozen: labels from one half of Amsterdam (2 km blocks), scored only on the other half</a:t>
            </a:r>
            <a:endParaRPr lang="en-US" sz="120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Macro F1 vs log₂(labels per class)</a:t>
            </a:r>
            <a:endParaRPr lang="en-US" sz="3000" dirty="0"/>
          </a:p>
        </p:txBody>
      </p:sp>
      <p:sp>
        <p:nvSpPr>
          <p:cNvPr id="3" name="plot card"/>
          <p:cNvSpPr/>
          <p:nvPr/>
        </p:nvSpPr>
        <p:spPr>
          <a:xfrm>
            <a:off x="502920" y="1188720"/>
            <a:ext cx="11155680" cy="4206240"/>
          </a:xfrm>
          <a:prstGeom prst="roundRect">
            <a:avLst>
              <a:gd name="adj" fmla="val 2609"/>
            </a:avLst>
          </a:prstGeom>
          <a:solidFill>
            <a:schemeClr val="tx2">
              <a:alpha val="78000"/>
            </a:schemeClr>
          </a:solidFill>
          <a:ln w="9525">
            <a:solidFill>
              <a:srgbClr val="2A3366"/>
            </a:solidFill>
            <a:prstDash val="solid"/>
          </a:ln>
        </p:spPr>
      </p:sp>
      <p:pic>
        <p:nvPicPr>
          <p:cNvPr id="4" name="f1 plot" descr="D:\temp\pptbuild\assets\chart_f1_log2n.png">    </p:cNvPr>
          <p:cNvPicPr>
            <a:picLocks noChangeAspect="1"/>
          </p:cNvPicPr>
          <p:nvPr/>
        </p:nvPicPr>
        <p:blipFill>
          <a:blip r:embed="rId1"/>
          <a:stretch>
            <a:fillRect/>
          </a:stretch>
        </p:blipFill>
        <p:spPr>
          <a:xfrm>
            <a:off x="1234440" y="1261872"/>
            <a:ext cx="8503920" cy="4142232"/>
          </a:xfrm>
          <a:prstGeom prst="rect">
            <a:avLst/>
          </a:prstGeom>
        </p:spPr>
      </p:pic>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What worked · what didn't · honest check</a:t>
            </a:r>
            <a:endParaRPr lang="en-US" sz="3000" dirty="0"/>
          </a:p>
        </p:txBody>
      </p:sp>
      <p:sp>
        <p:nvSpPr>
          <p:cNvPr id="3" name="worked card"/>
          <p:cNvSpPr/>
          <p:nvPr/>
        </p:nvSpPr>
        <p:spPr>
          <a:xfrm>
            <a:off x="502920" y="1188720"/>
            <a:ext cx="3886200" cy="4206240"/>
          </a:xfrm>
          <a:prstGeom prst="roundRect">
            <a:avLst>
              <a:gd name="adj" fmla="val 2824"/>
            </a:avLst>
          </a:prstGeom>
          <a:solidFill>
            <a:schemeClr val="tx2">
              <a:alpha val="85000"/>
            </a:schemeClr>
          </a:solidFill>
          <a:ln w="9525">
            <a:solidFill>
              <a:srgbClr val="2A3366"/>
            </a:solidFill>
            <a:prstDash val="solid"/>
          </a:ln>
        </p:spPr>
      </p:sp>
      <p:sp>
        <p:nvSpPr>
          <p:cNvPr id="4" name="didnt card"/>
          <p:cNvSpPr/>
          <p:nvPr/>
        </p:nvSpPr>
        <p:spPr>
          <a:xfrm>
            <a:off x="4526280" y="1188720"/>
            <a:ext cx="3886200" cy="4206240"/>
          </a:xfrm>
          <a:prstGeom prst="roundRect">
            <a:avLst>
              <a:gd name="adj" fmla="val 2824"/>
            </a:avLst>
          </a:prstGeom>
          <a:solidFill>
            <a:schemeClr val="tx2">
              <a:alpha val="85000"/>
            </a:schemeClr>
          </a:solidFill>
          <a:ln w="9525">
            <a:solidFill>
              <a:srgbClr val="2A3366"/>
            </a:solidFill>
            <a:prstDash val="solid"/>
          </a:ln>
        </p:spPr>
      </p:sp>
      <p:sp>
        <p:nvSpPr>
          <p:cNvPr id="5" name="worked head"/>
          <p:cNvSpPr txBox="1"/>
          <p:nvPr/>
        </p:nvSpPr>
        <p:spPr>
          <a:xfrm>
            <a:off x="731520" y="1298448"/>
            <a:ext cx="3474720" cy="384048"/>
          </a:xfrm>
          <a:prstGeom prst="rect">
            <a:avLst/>
          </a:prstGeom>
          <a:noFill/>
          <a:ln/>
        </p:spPr>
        <p:txBody>
          <a:bodyPr wrap="square" lIns="0" tIns="0" rIns="0" bIns="0" rtlCol="0" anchor="t"/>
          <a:lstStyle/>
          <a:p>
            <a:pPr indent="0" marL="0">
              <a:buNone/>
            </a:pPr>
            <a:r>
              <a:rPr lang="en-US" sz="1900" b="1" dirty="0">
                <a:solidFill>
                  <a:schemeClr val="accent5"/>
                </a:solidFill>
                <a:latin typeface="Cambria" pitchFamily="34" charset="0"/>
                <a:ea typeface="Cambria" pitchFamily="34" charset="-122"/>
                <a:cs typeface="Cambria" pitchFamily="34" charset="-120"/>
              </a:rPr>
              <a:t>Worked</a:t>
            </a:r>
            <a:endParaRPr lang="en-US" sz="1900" dirty="0"/>
          </a:p>
        </p:txBody>
      </p:sp>
      <p:sp>
        <p:nvSpPr>
          <p:cNvPr id="6" name="didnt head"/>
          <p:cNvSpPr txBox="1"/>
          <p:nvPr/>
        </p:nvSpPr>
        <p:spPr>
          <a:xfrm>
            <a:off x="4754880" y="1298448"/>
            <a:ext cx="3474720" cy="384048"/>
          </a:xfrm>
          <a:prstGeom prst="rect">
            <a:avLst/>
          </a:prstGeom>
          <a:noFill/>
          <a:ln/>
        </p:spPr>
        <p:txBody>
          <a:bodyPr wrap="square" lIns="0" tIns="0" rIns="0" bIns="0" rtlCol="0" anchor="t"/>
          <a:lstStyle/>
          <a:p>
            <a:pPr indent="0" marL="0">
              <a:buNone/>
            </a:pPr>
            <a:r>
              <a:rPr lang="en-US" sz="1900" b="1" dirty="0">
                <a:solidFill>
                  <a:schemeClr val="accent4"/>
                </a:solidFill>
                <a:latin typeface="Cambria" pitchFamily="34" charset="0"/>
                <a:ea typeface="Cambria" pitchFamily="34" charset="-122"/>
                <a:cs typeface="Cambria" pitchFamily="34" charset="-120"/>
              </a:rPr>
              <a:t>Didn't (measured change)</a:t>
            </a:r>
            <a:endParaRPr lang="en-US" sz="1900" dirty="0"/>
          </a:p>
        </p:txBody>
      </p:sp>
      <p:pic>
        <p:nvPicPr>
          <p:cNvPr id="7" name="ok 0" descr="preencoded.png">    </p:cNvPr>
          <p:cNvPicPr>
            <a:picLocks noChangeAspect="1"/>
          </p:cNvPicPr>
          <p:nvPr/>
        </p:nvPicPr>
        <p:blipFill>
          <a:blip r:embed="rId1"/>
          <a:stretch>
            <a:fillRect/>
          </a:stretch>
        </p:blipFill>
        <p:spPr>
          <a:xfrm>
            <a:off x="731520" y="1828800"/>
            <a:ext cx="274320" cy="274320"/>
          </a:xfrm>
          <a:prstGeom prst="rect">
            <a:avLst/>
          </a:prstGeom>
        </p:spPr>
      </p:pic>
      <p:sp>
        <p:nvSpPr>
          <p:cNvPr id="8" name="w 0"/>
          <p:cNvSpPr txBox="1"/>
          <p:nvPr/>
        </p:nvSpPr>
        <p:spPr>
          <a:xfrm>
            <a:off x="1097280" y="1801368"/>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Cleaner yearly composite</a:t>
            </a:r>
            <a:endParaRPr lang="en-US" sz="1450" dirty="0"/>
          </a:p>
        </p:txBody>
      </p:sp>
      <p:sp>
        <p:nvSpPr>
          <p:cNvPr id="9" name="wv 0"/>
          <p:cNvSpPr txBox="1"/>
          <p:nvPr/>
        </p:nvSpPr>
        <p:spPr>
          <a:xfrm>
            <a:off x="3291840" y="1819656"/>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−46 % noise</a:t>
            </a:r>
            <a:endParaRPr lang="en-US" sz="1200" dirty="0"/>
          </a:p>
        </p:txBody>
      </p:sp>
      <p:pic>
        <p:nvPicPr>
          <p:cNvPr id="10" name="ok 1" descr="preencoded.png">    </p:cNvPr>
          <p:cNvPicPr>
            <a:picLocks noChangeAspect="1"/>
          </p:cNvPicPr>
          <p:nvPr/>
        </p:nvPicPr>
        <p:blipFill>
          <a:blip r:embed="rId2"/>
          <a:stretch>
            <a:fillRect/>
          </a:stretch>
        </p:blipFill>
        <p:spPr>
          <a:xfrm>
            <a:off x="731520" y="2395728"/>
            <a:ext cx="274320" cy="274320"/>
          </a:xfrm>
          <a:prstGeom prst="rect">
            <a:avLst/>
          </a:prstGeom>
        </p:spPr>
      </p:pic>
      <p:sp>
        <p:nvSpPr>
          <p:cNvPr id="11" name="w 1"/>
          <p:cNvSpPr txBox="1"/>
          <p:nvPr/>
        </p:nvSpPr>
        <p:spPr>
          <a:xfrm>
            <a:off x="1097280" y="2368296"/>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Change-point features</a:t>
            </a:r>
            <a:endParaRPr lang="en-US" sz="1450" dirty="0"/>
          </a:p>
        </p:txBody>
      </p:sp>
      <p:sp>
        <p:nvSpPr>
          <p:cNvPr id="12" name="wv 1"/>
          <p:cNvSpPr txBox="1"/>
          <p:nvPr/>
        </p:nvSpPr>
        <p:spPr>
          <a:xfrm>
            <a:off x="3291840" y="2386584"/>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steps</a:t>
            </a:r>
            <a:endParaRPr lang="en-US" sz="1200" dirty="0"/>
          </a:p>
        </p:txBody>
      </p:sp>
      <p:pic>
        <p:nvPicPr>
          <p:cNvPr id="13" name="ok 2" descr="preencoded.png">    </p:cNvPr>
          <p:cNvPicPr>
            <a:picLocks noChangeAspect="1"/>
          </p:cNvPicPr>
          <p:nvPr/>
        </p:nvPicPr>
        <p:blipFill>
          <a:blip r:embed="rId3"/>
          <a:stretch>
            <a:fillRect/>
          </a:stretch>
        </p:blipFill>
        <p:spPr>
          <a:xfrm>
            <a:off x="731520" y="2962656"/>
            <a:ext cx="274320" cy="274320"/>
          </a:xfrm>
          <a:prstGeom prst="rect">
            <a:avLst/>
          </a:prstGeom>
        </p:spPr>
      </p:pic>
      <p:sp>
        <p:nvSpPr>
          <p:cNvPr id="14" name="w 2"/>
          <p:cNvSpPr txBox="1"/>
          <p:nvPr/>
        </p:nvSpPr>
        <p:spPr>
          <a:xfrm>
            <a:off x="1097280" y="2935224"/>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Per-city scaling</a:t>
            </a:r>
            <a:endParaRPr lang="en-US" sz="1450" dirty="0"/>
          </a:p>
        </p:txBody>
      </p:sp>
      <p:sp>
        <p:nvSpPr>
          <p:cNvPr id="15" name="wv 2"/>
          <p:cNvSpPr txBox="1"/>
          <p:nvPr/>
        </p:nvSpPr>
        <p:spPr>
          <a:xfrm>
            <a:off x="3291840" y="2953512"/>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no labels</a:t>
            </a:r>
            <a:endParaRPr lang="en-US" sz="1200" dirty="0"/>
          </a:p>
        </p:txBody>
      </p:sp>
      <p:pic>
        <p:nvPicPr>
          <p:cNvPr id="16" name="ok 3" descr="preencoded.png">    </p:cNvPr>
          <p:cNvPicPr>
            <a:picLocks noChangeAspect="1"/>
          </p:cNvPicPr>
          <p:nvPr/>
        </p:nvPicPr>
        <p:blipFill>
          <a:blip r:embed="rId4"/>
          <a:stretch>
            <a:fillRect/>
          </a:stretch>
        </p:blipFill>
        <p:spPr>
          <a:xfrm>
            <a:off x="731520" y="3529584"/>
            <a:ext cx="274320" cy="274320"/>
          </a:xfrm>
          <a:prstGeom prst="rect">
            <a:avLst/>
          </a:prstGeom>
        </p:spPr>
      </p:pic>
      <p:sp>
        <p:nvSpPr>
          <p:cNvPr id="17" name="w 3"/>
          <p:cNvSpPr txBox="1"/>
          <p:nvPr/>
        </p:nvSpPr>
        <p:spPr>
          <a:xfrm>
            <a:off x="1097280" y="3502152"/>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Self-training</a:t>
            </a:r>
            <a:endParaRPr lang="en-US" sz="1450" dirty="0"/>
          </a:p>
        </p:txBody>
      </p:sp>
      <p:sp>
        <p:nvSpPr>
          <p:cNvPr id="18" name="wv 3"/>
          <p:cNvSpPr txBox="1"/>
          <p:nvPr/>
        </p:nvSpPr>
        <p:spPr>
          <a:xfrm>
            <a:off x="3291840" y="3520440"/>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unlabelled</a:t>
            </a:r>
            <a:endParaRPr lang="en-US" sz="1200" dirty="0"/>
          </a:p>
        </p:txBody>
      </p:sp>
      <p:pic>
        <p:nvPicPr>
          <p:cNvPr id="19" name="ok 4" descr="preencoded.png">    </p:cNvPr>
          <p:cNvPicPr>
            <a:picLocks noChangeAspect="1"/>
          </p:cNvPicPr>
          <p:nvPr/>
        </p:nvPicPr>
        <p:blipFill>
          <a:blip r:embed="rId5"/>
          <a:stretch>
            <a:fillRect/>
          </a:stretch>
        </p:blipFill>
        <p:spPr>
          <a:xfrm>
            <a:off x="731520" y="4096512"/>
            <a:ext cx="274320" cy="274320"/>
          </a:xfrm>
          <a:prstGeom prst="rect">
            <a:avLst/>
          </a:prstGeom>
        </p:spPr>
      </p:pic>
      <p:sp>
        <p:nvSpPr>
          <p:cNvPr id="20" name="w 4"/>
          <p:cNvSpPr txBox="1"/>
          <p:nvPr/>
        </p:nvSpPr>
        <p:spPr>
          <a:xfrm>
            <a:off x="1097280" y="4069080"/>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Spatial smoothing</a:t>
            </a:r>
            <a:endParaRPr lang="en-US" sz="1450" dirty="0"/>
          </a:p>
        </p:txBody>
      </p:sp>
      <p:sp>
        <p:nvSpPr>
          <p:cNvPr id="21" name="wv 4"/>
          <p:cNvSpPr txBox="1"/>
          <p:nvPr/>
        </p:nvSpPr>
        <p:spPr>
          <a:xfrm>
            <a:off x="3291840" y="4087368"/>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+0.020</a:t>
            </a:r>
            <a:endParaRPr lang="en-US" sz="1200" dirty="0"/>
          </a:p>
        </p:txBody>
      </p:sp>
      <p:pic>
        <p:nvPicPr>
          <p:cNvPr id="22" name="ok 5" descr="preencoded.png">    </p:cNvPr>
          <p:cNvPicPr>
            <a:picLocks noChangeAspect="1"/>
          </p:cNvPicPr>
          <p:nvPr/>
        </p:nvPicPr>
        <p:blipFill>
          <a:blip r:embed="rId6"/>
          <a:stretch>
            <a:fillRect/>
          </a:stretch>
        </p:blipFill>
        <p:spPr>
          <a:xfrm>
            <a:off x="731520" y="4663440"/>
            <a:ext cx="274320" cy="274320"/>
          </a:xfrm>
          <a:prstGeom prst="rect">
            <a:avLst/>
          </a:prstGeom>
        </p:spPr>
      </p:pic>
      <p:sp>
        <p:nvSpPr>
          <p:cNvPr id="23" name="w 5"/>
          <p:cNvSpPr txBox="1"/>
          <p:nvPr/>
        </p:nvSpPr>
        <p:spPr>
          <a:xfrm>
            <a:off x="1097280" y="4636008"/>
            <a:ext cx="233172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Class-mix rule</a:t>
            </a:r>
            <a:endParaRPr lang="en-US" sz="1450" dirty="0"/>
          </a:p>
        </p:txBody>
      </p:sp>
      <p:sp>
        <p:nvSpPr>
          <p:cNvPr id="24" name="wv 5"/>
          <p:cNvSpPr txBox="1"/>
          <p:nvPr/>
        </p:nvSpPr>
        <p:spPr>
          <a:xfrm>
            <a:off x="3291840" y="4654296"/>
            <a:ext cx="960120" cy="347472"/>
          </a:xfrm>
          <a:prstGeom prst="rect">
            <a:avLst/>
          </a:prstGeom>
          <a:noFill/>
          <a:ln/>
        </p:spPr>
        <p:txBody>
          <a:bodyPr wrap="square" lIns="0" tIns="0" rIns="0" bIns="0" rtlCol="0" anchor="t"/>
          <a:lstStyle/>
          <a:p>
            <a:pPr algn="r" indent="0" marL="0">
              <a:buNone/>
            </a:pPr>
            <a:r>
              <a:rPr lang="en-US" sz="1200" dirty="0">
                <a:solidFill>
                  <a:schemeClr val="accent5"/>
                </a:solidFill>
                <a:latin typeface="Calibri" pitchFamily="34" charset="0"/>
                <a:ea typeface="Calibri" pitchFamily="34" charset="-122"/>
                <a:cs typeface="Calibri" pitchFamily="34" charset="-120"/>
              </a:rPr>
              <a:t>n ≥ 25</a:t>
            </a:r>
            <a:endParaRPr lang="en-US" sz="1200" dirty="0"/>
          </a:p>
        </p:txBody>
      </p:sp>
      <p:pic>
        <p:nvPicPr>
          <p:cNvPr id="25" name="no 0" descr="preencoded.png">    </p:cNvPr>
          <p:cNvPicPr>
            <a:picLocks noChangeAspect="1"/>
          </p:cNvPicPr>
          <p:nvPr/>
        </p:nvPicPr>
        <p:blipFill>
          <a:blip r:embed="rId7"/>
          <a:stretch>
            <a:fillRect/>
          </a:stretch>
        </p:blipFill>
        <p:spPr>
          <a:xfrm>
            <a:off x="4754880" y="1828800"/>
            <a:ext cx="274320" cy="274320"/>
          </a:xfrm>
          <a:prstGeom prst="rect">
            <a:avLst/>
          </a:prstGeom>
        </p:spPr>
      </p:pic>
      <p:sp>
        <p:nvSpPr>
          <p:cNvPr id="26" name="d 0"/>
          <p:cNvSpPr txBox="1"/>
          <p:nvPr/>
        </p:nvSpPr>
        <p:spPr>
          <a:xfrm>
            <a:off x="5120640" y="1801368"/>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Class-mix at every n</a:t>
            </a:r>
            <a:endParaRPr lang="en-US" sz="1450" dirty="0"/>
          </a:p>
        </p:txBody>
      </p:sp>
      <p:sp>
        <p:nvSpPr>
          <p:cNvPr id="27" name="dv 0"/>
          <p:cNvSpPr txBox="1"/>
          <p:nvPr/>
        </p:nvSpPr>
        <p:spPr>
          <a:xfrm>
            <a:off x="7315200" y="1819656"/>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−0.003</a:t>
            </a:r>
            <a:endParaRPr lang="en-US" sz="1200" dirty="0"/>
          </a:p>
        </p:txBody>
      </p:sp>
      <p:pic>
        <p:nvPicPr>
          <p:cNvPr id="28" name="no 1" descr="preencoded.png">    </p:cNvPr>
          <p:cNvPicPr>
            <a:picLocks noChangeAspect="1"/>
          </p:cNvPicPr>
          <p:nvPr/>
        </p:nvPicPr>
        <p:blipFill>
          <a:blip r:embed="rId8"/>
          <a:stretch>
            <a:fillRect/>
          </a:stretch>
        </p:blipFill>
        <p:spPr>
          <a:xfrm>
            <a:off x="4754880" y="2395728"/>
            <a:ext cx="274320" cy="274320"/>
          </a:xfrm>
          <a:prstGeom prst="rect">
            <a:avLst/>
          </a:prstGeom>
        </p:spPr>
      </p:pic>
      <p:sp>
        <p:nvSpPr>
          <p:cNvPr id="29" name="d 1"/>
          <p:cNvSpPr txBox="1"/>
          <p:nvPr/>
        </p:nvSpPr>
        <p:spPr>
          <a:xfrm>
            <a:off x="5120640" y="2368296"/>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BBSE class-mix</a:t>
            </a:r>
            <a:endParaRPr lang="en-US" sz="1450" dirty="0"/>
          </a:p>
        </p:txBody>
      </p:sp>
      <p:sp>
        <p:nvSpPr>
          <p:cNvPr id="30" name="dv 1"/>
          <p:cNvSpPr txBox="1"/>
          <p:nvPr/>
        </p:nvSpPr>
        <p:spPr>
          <a:xfrm>
            <a:off x="7315200" y="2386584"/>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−0.003</a:t>
            </a:r>
            <a:endParaRPr lang="en-US" sz="1200" dirty="0"/>
          </a:p>
        </p:txBody>
      </p:sp>
      <p:pic>
        <p:nvPicPr>
          <p:cNvPr id="31" name="no 2" descr="preencoded.png">    </p:cNvPr>
          <p:cNvPicPr>
            <a:picLocks noChangeAspect="1"/>
          </p:cNvPicPr>
          <p:nvPr/>
        </p:nvPicPr>
        <p:blipFill>
          <a:blip r:embed="rId9"/>
          <a:stretch>
            <a:fillRect/>
          </a:stretch>
        </p:blipFill>
        <p:spPr>
          <a:xfrm>
            <a:off x="4754880" y="2962656"/>
            <a:ext cx="274320" cy="274320"/>
          </a:xfrm>
          <a:prstGeom prst="rect">
            <a:avLst/>
          </a:prstGeom>
        </p:spPr>
      </p:pic>
      <p:sp>
        <p:nvSpPr>
          <p:cNvPr id="32" name="d 2"/>
          <p:cNvSpPr txBox="1"/>
          <p:nvPr/>
        </p:nvSpPr>
        <p:spPr>
          <a:xfrm>
            <a:off x="5120640" y="2935224"/>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Label-noise weights</a:t>
            </a:r>
            <a:endParaRPr lang="en-US" sz="1450" dirty="0"/>
          </a:p>
        </p:txBody>
      </p:sp>
      <p:sp>
        <p:nvSpPr>
          <p:cNvPr id="33" name="dv 2"/>
          <p:cNvSpPr txBox="1"/>
          <p:nvPr/>
        </p:nvSpPr>
        <p:spPr>
          <a:xfrm>
            <a:off x="7315200" y="2953512"/>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+0.001</a:t>
            </a:r>
            <a:endParaRPr lang="en-US" sz="1200" dirty="0"/>
          </a:p>
        </p:txBody>
      </p:sp>
      <p:pic>
        <p:nvPicPr>
          <p:cNvPr id="34" name="no 3" descr="preencoded.png">    </p:cNvPr>
          <p:cNvPicPr>
            <a:picLocks noChangeAspect="1"/>
          </p:cNvPicPr>
          <p:nvPr/>
        </p:nvPicPr>
        <p:blipFill>
          <a:blip r:embed="rId10"/>
          <a:stretch>
            <a:fillRect/>
          </a:stretch>
        </p:blipFill>
        <p:spPr>
          <a:xfrm>
            <a:off x="4754880" y="3529584"/>
            <a:ext cx="274320" cy="274320"/>
          </a:xfrm>
          <a:prstGeom prst="rect">
            <a:avLst/>
          </a:prstGeom>
        </p:spPr>
      </p:pic>
      <p:sp>
        <p:nvSpPr>
          <p:cNvPr id="35" name="d 3"/>
          <p:cNvSpPr txBox="1"/>
          <p:nvPr/>
        </p:nvSpPr>
        <p:spPr>
          <a:xfrm>
            <a:off x="5120640" y="3502152"/>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Pseudo-label agreement</a:t>
            </a:r>
            <a:endParaRPr lang="en-US" sz="1450" dirty="0"/>
          </a:p>
        </p:txBody>
      </p:sp>
      <p:sp>
        <p:nvSpPr>
          <p:cNvPr id="36" name="dv 3"/>
          <p:cNvSpPr txBox="1"/>
          <p:nvPr/>
        </p:nvSpPr>
        <p:spPr>
          <a:xfrm>
            <a:off x="7315200" y="3520440"/>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0.000</a:t>
            </a:r>
            <a:endParaRPr lang="en-US" sz="1200" dirty="0"/>
          </a:p>
        </p:txBody>
      </p:sp>
      <p:pic>
        <p:nvPicPr>
          <p:cNvPr id="37" name="no 4" descr="preencoded.png">    </p:cNvPr>
          <p:cNvPicPr>
            <a:picLocks noChangeAspect="1"/>
          </p:cNvPicPr>
          <p:nvPr/>
        </p:nvPicPr>
        <p:blipFill>
          <a:blip r:embed="rId11"/>
          <a:stretch>
            <a:fillRect/>
          </a:stretch>
        </p:blipFill>
        <p:spPr>
          <a:xfrm>
            <a:off x="4754880" y="4096512"/>
            <a:ext cx="274320" cy="274320"/>
          </a:xfrm>
          <a:prstGeom prst="rect">
            <a:avLst/>
          </a:prstGeom>
        </p:spPr>
      </p:pic>
      <p:sp>
        <p:nvSpPr>
          <p:cNvPr id="38" name="d 4"/>
          <p:cNvSpPr txBox="1"/>
          <p:nvPr/>
        </p:nvSpPr>
        <p:spPr>
          <a:xfrm>
            <a:off x="5120640" y="4069080"/>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TabPFN</a:t>
            </a:r>
            <a:endParaRPr lang="en-US" sz="1450" dirty="0"/>
          </a:p>
        </p:txBody>
      </p:sp>
      <p:sp>
        <p:nvSpPr>
          <p:cNvPr id="39" name="dv 4"/>
          <p:cNvSpPr txBox="1"/>
          <p:nvPr/>
        </p:nvSpPr>
        <p:spPr>
          <a:xfrm>
            <a:off x="7315200" y="4087368"/>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+0.003</a:t>
            </a:r>
            <a:endParaRPr lang="en-US" sz="1200" dirty="0"/>
          </a:p>
        </p:txBody>
      </p:sp>
      <p:pic>
        <p:nvPicPr>
          <p:cNvPr id="40" name="no 5" descr="preencoded.png">    </p:cNvPr>
          <p:cNvPicPr>
            <a:picLocks noChangeAspect="1"/>
          </p:cNvPicPr>
          <p:nvPr/>
        </p:nvPicPr>
        <p:blipFill>
          <a:blip r:embed="rId12"/>
          <a:stretch>
            <a:fillRect/>
          </a:stretch>
        </p:blipFill>
        <p:spPr>
          <a:xfrm>
            <a:off x="4754880" y="4663440"/>
            <a:ext cx="274320" cy="274320"/>
          </a:xfrm>
          <a:prstGeom prst="rect">
            <a:avLst/>
          </a:prstGeom>
        </p:spPr>
      </p:pic>
      <p:sp>
        <p:nvSpPr>
          <p:cNvPr id="41" name="d 5"/>
          <p:cNvSpPr txBox="1"/>
          <p:nvPr/>
        </p:nvSpPr>
        <p:spPr>
          <a:xfrm>
            <a:off x="5120640" y="4636008"/>
            <a:ext cx="2377440" cy="347472"/>
          </a:xfrm>
          <a:prstGeom prst="rect">
            <a:avLst/>
          </a:prstGeom>
          <a:noFill/>
          <a:ln/>
        </p:spPr>
        <p:txBody>
          <a:bodyPr wrap="square" lIns="0" tIns="0" rIns="0" bIns="0" rtlCol="0" anchor="t"/>
          <a:lstStyle/>
          <a:p>
            <a:pPr indent="0" marL="0">
              <a:buNone/>
            </a:pPr>
            <a:r>
              <a:rPr lang="en-US" sz="1450" dirty="0">
                <a:solidFill>
                  <a:schemeClr val="bg1"/>
                </a:solidFill>
                <a:latin typeface="Calibri" pitchFamily="34" charset="0"/>
                <a:ea typeface="Calibri" pitchFamily="34" charset="-122"/>
                <a:cs typeface="Calibri" pitchFamily="34" charset="-120"/>
              </a:rPr>
              <a:t>CORAL alignment</a:t>
            </a:r>
            <a:endParaRPr lang="en-US" sz="1450" dirty="0"/>
          </a:p>
        </p:txBody>
      </p:sp>
      <p:sp>
        <p:nvSpPr>
          <p:cNvPr id="42" name="dv 5"/>
          <p:cNvSpPr txBox="1"/>
          <p:nvPr/>
        </p:nvSpPr>
        <p:spPr>
          <a:xfrm>
            <a:off x="7315200" y="4654296"/>
            <a:ext cx="960120" cy="347472"/>
          </a:xfrm>
          <a:prstGeom prst="rect">
            <a:avLst/>
          </a:prstGeom>
          <a:noFill/>
          <a:ln/>
        </p:spPr>
        <p:txBody>
          <a:bodyPr wrap="square" lIns="0" tIns="0" rIns="0" bIns="0" rtlCol="0" anchor="t"/>
          <a:lstStyle/>
          <a:p>
            <a:pPr algn="r" indent="0" marL="0">
              <a:buNone/>
            </a:pPr>
            <a:r>
              <a:rPr lang="en-US" sz="1200" dirty="0">
                <a:solidFill>
                  <a:schemeClr val="accent4"/>
                </a:solidFill>
                <a:latin typeface="Calibri" pitchFamily="34" charset="0"/>
                <a:ea typeface="Calibri" pitchFamily="34" charset="-122"/>
                <a:cs typeface="Calibri" pitchFamily="34" charset="-120"/>
              </a:rPr>
              <a:t>−0.05</a:t>
            </a:r>
            <a:endParaRPr lang="en-US" sz="1200" dirty="0"/>
          </a:p>
        </p:txBody>
      </p:sp>
      <p:sp>
        <p:nvSpPr>
          <p:cNvPr id="43" name="honest 0"/>
          <p:cNvSpPr/>
          <p:nvPr/>
        </p:nvSpPr>
        <p:spPr>
          <a:xfrm>
            <a:off x="8549640" y="1188720"/>
            <a:ext cx="3108960" cy="1335024"/>
          </a:xfrm>
          <a:prstGeom prst="roundRect">
            <a:avLst>
              <a:gd name="adj" fmla="val 8219"/>
            </a:avLst>
          </a:prstGeom>
          <a:solidFill>
            <a:schemeClr val="tx2">
              <a:alpha val="85000"/>
            </a:schemeClr>
          </a:solidFill>
          <a:ln w="9525">
            <a:solidFill>
              <a:srgbClr val="2A3366"/>
            </a:solidFill>
            <a:prstDash val="solid"/>
          </a:ln>
        </p:spPr>
      </p:sp>
      <p:sp>
        <p:nvSpPr>
          <p:cNvPr id="44" name="honest num 0"/>
          <p:cNvSpPr txBox="1"/>
          <p:nvPr/>
        </p:nvSpPr>
        <p:spPr>
          <a:xfrm>
            <a:off x="8732520" y="1261872"/>
            <a:ext cx="2788920" cy="566928"/>
          </a:xfrm>
          <a:prstGeom prst="rect">
            <a:avLst/>
          </a:prstGeom>
          <a:noFill/>
          <a:ln/>
        </p:spPr>
        <p:txBody>
          <a:bodyPr wrap="square" lIns="0" tIns="0" rIns="0" bIns="0" rtlCol="0" anchor="t"/>
          <a:lstStyle/>
          <a:p>
            <a:pPr indent="0" marL="0">
              <a:buNone/>
            </a:pPr>
            <a:r>
              <a:rPr lang="en-US" sz="2600" b="1" dirty="0">
                <a:solidFill>
                  <a:srgbClr val="5CC8F0"/>
                </a:solidFill>
                <a:latin typeface="Cambria" pitchFamily="34" charset="0"/>
                <a:ea typeface="Cambria" pitchFamily="34" charset="-122"/>
                <a:cs typeface="Cambria" pitchFamily="34" charset="-120"/>
              </a:rPr>
              <a:t>0.710</a:t>
            </a:r>
            <a:endParaRPr lang="en-US" sz="2600" dirty="0"/>
          </a:p>
        </p:txBody>
      </p:sp>
      <p:sp>
        <p:nvSpPr>
          <p:cNvPr id="45" name="honest txt 0"/>
          <p:cNvSpPr txBox="1"/>
          <p:nvPr/>
        </p:nvSpPr>
        <p:spPr>
          <a:xfrm>
            <a:off x="8732520" y="1828800"/>
            <a:ext cx="2788920" cy="603504"/>
          </a:xfrm>
          <a:prstGeom prst="rect">
            <a:avLst/>
          </a:prstGeom>
          <a:noFill/>
          <a:ln/>
        </p:spPr>
        <p:txBody>
          <a:bodyPr wrap="square" lIns="0" tIns="0" rIns="0" bIns="0" rtlCol="0" anchor="t"/>
          <a:lstStyle/>
          <a:p>
            <a:pPr indent="0" marL="0">
              <a:buNone/>
            </a:pPr>
            <a:r>
              <a:rPr lang="en-US" sz="1250" dirty="0">
                <a:solidFill>
                  <a:schemeClr val="bg1"/>
                </a:solidFill>
                <a:latin typeface="Calibri" pitchFamily="34" charset="0"/>
                <a:ea typeface="Calibri" pitchFamily="34" charset="-122"/>
                <a:cs typeface="Calibri" pitchFamily="34" charset="-120"/>
              </a:rPr>
              <a:t>unseen half of Amsterdam — reported 0.712</a:t>
            </a:r>
            <a:endParaRPr lang="en-US" sz="1250" dirty="0"/>
          </a:p>
        </p:txBody>
      </p:sp>
      <p:sp>
        <p:nvSpPr>
          <p:cNvPr id="46" name="honest 1"/>
          <p:cNvSpPr/>
          <p:nvPr/>
        </p:nvSpPr>
        <p:spPr>
          <a:xfrm>
            <a:off x="8549640" y="2624328"/>
            <a:ext cx="3108960" cy="1335024"/>
          </a:xfrm>
          <a:prstGeom prst="roundRect">
            <a:avLst>
              <a:gd name="adj" fmla="val 8219"/>
            </a:avLst>
          </a:prstGeom>
          <a:solidFill>
            <a:schemeClr val="tx2">
              <a:alpha val="85000"/>
            </a:schemeClr>
          </a:solidFill>
          <a:ln w="9525">
            <a:solidFill>
              <a:srgbClr val="2A3366"/>
            </a:solidFill>
            <a:prstDash val="solid"/>
          </a:ln>
        </p:spPr>
      </p:sp>
      <p:sp>
        <p:nvSpPr>
          <p:cNvPr id="47" name="honest num 1"/>
          <p:cNvSpPr txBox="1"/>
          <p:nvPr/>
        </p:nvSpPr>
        <p:spPr>
          <a:xfrm>
            <a:off x="8732520" y="2697480"/>
            <a:ext cx="2788920" cy="566928"/>
          </a:xfrm>
          <a:prstGeom prst="rect">
            <a:avLst/>
          </a:prstGeom>
          <a:noFill/>
          <a:ln/>
        </p:spPr>
        <p:txBody>
          <a:bodyPr wrap="square" lIns="0" tIns="0" rIns="0" bIns="0" rtlCol="0" anchor="t"/>
          <a:lstStyle/>
          <a:p>
            <a:pPr indent="0" marL="0">
              <a:buNone/>
            </a:pPr>
            <a:r>
              <a:rPr lang="en-US" sz="2600" b="1" dirty="0">
                <a:solidFill>
                  <a:srgbClr val="F2B33D"/>
                </a:solidFill>
                <a:latin typeface="Cambria" pitchFamily="34" charset="0"/>
                <a:ea typeface="Cambria" pitchFamily="34" charset="-122"/>
                <a:cs typeface="Cambria" pitchFamily="34" charset="-120"/>
              </a:rPr>
              <a:t>0.65–0.76</a:t>
            </a:r>
            <a:endParaRPr lang="en-US" sz="2600" dirty="0"/>
          </a:p>
        </p:txBody>
      </p:sp>
      <p:sp>
        <p:nvSpPr>
          <p:cNvPr id="48" name="honest txt 1"/>
          <p:cNvSpPr txBox="1"/>
          <p:nvPr/>
        </p:nvSpPr>
        <p:spPr>
          <a:xfrm>
            <a:off x="8732520" y="3264408"/>
            <a:ext cx="2788920" cy="603504"/>
          </a:xfrm>
          <a:prstGeom prst="rect">
            <a:avLst/>
          </a:prstGeom>
          <a:noFill/>
          <a:ln/>
        </p:spPr>
        <p:txBody>
          <a:bodyPr wrap="square" lIns="0" tIns="0" rIns="0" bIns="0" rtlCol="0" anchor="t"/>
          <a:lstStyle/>
          <a:p>
            <a:pPr indent="0" marL="0">
              <a:buNone/>
            </a:pPr>
            <a:r>
              <a:rPr lang="en-US" sz="1250" dirty="0">
                <a:solidFill>
                  <a:schemeClr val="bg1"/>
                </a:solidFill>
                <a:latin typeface="Calibri" pitchFamily="34" charset="0"/>
                <a:ea typeface="Calibri" pitchFamily="34" charset="-122"/>
                <a:cs typeface="Calibri" pitchFamily="34" charset="-120"/>
              </a:rPr>
              <a:t>pixels ≥ 1 km from any label</a:t>
            </a:r>
            <a:endParaRPr lang="en-US" sz="1250" dirty="0"/>
          </a:p>
        </p:txBody>
      </p:sp>
      <p:sp>
        <p:nvSpPr>
          <p:cNvPr id="49" name="honest 2"/>
          <p:cNvSpPr/>
          <p:nvPr/>
        </p:nvSpPr>
        <p:spPr>
          <a:xfrm>
            <a:off x="8549640" y="4059936"/>
            <a:ext cx="3108960" cy="1335024"/>
          </a:xfrm>
          <a:prstGeom prst="roundRect">
            <a:avLst>
              <a:gd name="adj" fmla="val 8219"/>
            </a:avLst>
          </a:prstGeom>
          <a:solidFill>
            <a:schemeClr val="tx2">
              <a:alpha val="85000"/>
            </a:schemeClr>
          </a:solidFill>
          <a:ln w="9525">
            <a:solidFill>
              <a:srgbClr val="2A3366"/>
            </a:solidFill>
            <a:prstDash val="solid"/>
          </a:ln>
        </p:spPr>
      </p:sp>
      <p:sp>
        <p:nvSpPr>
          <p:cNvPr id="50" name="honest num 2"/>
          <p:cNvSpPr txBox="1"/>
          <p:nvPr/>
        </p:nvSpPr>
        <p:spPr>
          <a:xfrm>
            <a:off x="8732520" y="4133088"/>
            <a:ext cx="2788920" cy="566928"/>
          </a:xfrm>
          <a:prstGeom prst="rect">
            <a:avLst/>
          </a:prstGeom>
          <a:noFill/>
          <a:ln/>
        </p:spPr>
        <p:txBody>
          <a:bodyPr wrap="square" lIns="0" tIns="0" rIns="0" bIns="0" rtlCol="0" anchor="t"/>
          <a:lstStyle/>
          <a:p>
            <a:pPr indent="0" marL="0">
              <a:buNone/>
            </a:pPr>
            <a:r>
              <a:rPr lang="en-US" sz="2600" b="1" dirty="0">
                <a:solidFill>
                  <a:srgbClr val="6EE7B7"/>
                </a:solidFill>
                <a:latin typeface="Cambria" pitchFamily="34" charset="0"/>
                <a:ea typeface="Cambria" pitchFamily="34" charset="-122"/>
                <a:cs typeface="Cambria" pitchFamily="34" charset="-120"/>
              </a:rPr>
              <a:t>8 → 0</a:t>
            </a:r>
            <a:endParaRPr lang="en-US" sz="2600" dirty="0"/>
          </a:p>
        </p:txBody>
      </p:sp>
      <p:sp>
        <p:nvSpPr>
          <p:cNvPr id="51" name="honest txt 2"/>
          <p:cNvSpPr txBox="1"/>
          <p:nvPr/>
        </p:nvSpPr>
        <p:spPr>
          <a:xfrm>
            <a:off x="8732520" y="4700016"/>
            <a:ext cx="2788920" cy="603504"/>
          </a:xfrm>
          <a:prstGeom prst="rect">
            <a:avLst/>
          </a:prstGeom>
          <a:noFill/>
          <a:ln/>
        </p:spPr>
        <p:txBody>
          <a:bodyPr wrap="square" lIns="0" tIns="0" rIns="0" bIns="0" rtlCol="0" anchor="t"/>
          <a:lstStyle/>
          <a:p>
            <a:pPr indent="0" marL="0">
              <a:buNone/>
            </a:pPr>
            <a:r>
              <a:rPr lang="en-US" sz="1250" dirty="0">
                <a:solidFill>
                  <a:schemeClr val="bg1"/>
                </a:solidFill>
                <a:latin typeface="Calibri" pitchFamily="34" charset="0"/>
                <a:ea typeface="Calibri" pitchFamily="34" charset="-122"/>
                <a:cs typeface="Calibri" pitchFamily="34" charset="-120"/>
              </a:rPr>
              <a:t>ideas tested, none adopted</a:t>
            </a:r>
            <a:endParaRPr lang="en-US" sz="1250" dirty="0"/>
          </a:p>
        </p:txBody>
      </p:sp>
      <p:sp>
        <p:nvSpPr>
          <p:cNvPr id="25" name="Slide Number Placeholder 0"/>
          <p:cNvSpPr>
            <a:spLocks noGrp="1"/>
          </p:cNvSpPr>
          <p:nvPr>
            <p:ph type="sldNum" sz="quarter" idx="4294967295"/>
          </p:nvPr>
        </p:nvSpPr>
        <p:spPr>
          <a:xfrm>
            <a:off x="11247120" y="34747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9D3F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q line"/>
          <p:cNvSpPr txBox="1"/>
          <p:nvPr/>
        </p:nvSpPr>
        <p:spPr>
          <a:xfrm>
            <a:off x="548640" y="1371600"/>
            <a:ext cx="11064240" cy="411480"/>
          </a:xfrm>
          <a:prstGeom prst="rect">
            <a:avLst/>
          </a:prstGeom>
          <a:noFill/>
          <a:ln/>
        </p:spPr>
        <p:txBody>
          <a:bodyPr wrap="square" lIns="0" tIns="0" rIns="0" bIns="0" rtlCol="0" anchor="t"/>
          <a:lstStyle/>
          <a:p>
            <a:pPr algn="ctr" indent="0" marL="0">
              <a:buNone/>
            </a:pPr>
            <a:r>
              <a:rPr lang="en-US" sz="2200" b="1" dirty="0">
                <a:solidFill>
                  <a:schemeClr val="accent1"/>
                </a:solidFill>
                <a:latin typeface="Calibri" pitchFamily="34" charset="0"/>
                <a:ea typeface="Calibri" pitchFamily="34" charset="-122"/>
                <a:cs typeface="Calibri" pitchFamily="34" charset="-120"/>
              </a:rPr>
              <a:t>Group 2  ·  Questions welcome</a:t>
            </a:r>
            <a:endParaRPr lang="en-US" sz="2200" dirty="0"/>
          </a:p>
        </p:txBody>
      </p:sp>
      <p:sp>
        <p:nvSpPr>
          <p:cNvPr id="4" name="pt 0"/>
          <p:cNvSpPr/>
          <p:nvPr/>
        </p:nvSpPr>
        <p:spPr>
          <a:xfrm>
            <a:off x="548640" y="2286000"/>
            <a:ext cx="2057400" cy="1051560"/>
          </a:xfrm>
          <a:prstGeom prst="roundRect">
            <a:avLst>
              <a:gd name="adj" fmla="val 8696"/>
            </a:avLst>
          </a:prstGeom>
          <a:solidFill>
            <a:srgbClr val="37203D"/>
          </a:solidFill>
          <a:ln w="12700">
            <a:solidFill>
              <a:srgbClr val="37203D"/>
            </a:solidFill>
            <a:prstDash val="solid"/>
          </a:ln>
        </p:spPr>
      </p:sp>
      <p:pic>
        <p:nvPicPr>
          <p:cNvPr id="5" name="pl 0" descr="D:\temp\pptbuild\assets\logo_zas.png">    </p:cNvPr>
          <p:cNvPicPr>
            <a:picLocks noChangeAspect="1"/>
          </p:cNvPicPr>
          <p:nvPr/>
        </p:nvPicPr>
        <p:blipFill>
          <a:blip r:embed="rId1"/>
          <a:stretch>
            <a:fillRect/>
          </a:stretch>
        </p:blipFill>
        <p:spPr>
          <a:xfrm>
            <a:off x="1041312" y="2423160"/>
            <a:ext cx="1072055" cy="777240"/>
          </a:xfrm>
          <a:prstGeom prst="rect">
            <a:avLst/>
          </a:prstGeom>
        </p:spPr>
      </p:pic>
      <p:sp>
        <p:nvSpPr>
          <p:cNvPr id="6" name="pn 0"/>
          <p:cNvSpPr txBox="1"/>
          <p:nvPr/>
        </p:nvSpPr>
        <p:spPr>
          <a:xfrm>
            <a:off x="548640" y="3401568"/>
            <a:ext cx="2057400" cy="502920"/>
          </a:xfrm>
          <a:prstGeom prst="rect">
            <a:avLst/>
          </a:prstGeom>
          <a:noFill/>
          <a:ln/>
        </p:spPr>
        <p:txBody>
          <a:bodyPr wrap="square" lIns="0" tIns="0" rIns="0" bIns="0" rtlCol="0" anchor="t"/>
          <a:lstStyle/>
          <a:p>
            <a:pPr algn="ctr" indent="0" marL="0">
              <a:buNone/>
            </a:pPr>
            <a:r>
              <a:rPr lang="en-US" sz="1050" dirty="0">
                <a:solidFill>
                  <a:schemeClr val="bg1"/>
                </a:solidFill>
                <a:latin typeface="Calibri" pitchFamily="34" charset="0"/>
                <a:ea typeface="Calibri" pitchFamily="34" charset="-122"/>
                <a:cs typeface="Calibri" pitchFamily="34" charset="-120"/>
              </a:rPr>
              <a:t>Zimbabwean Astronomical Society</a:t>
            </a:r>
            <a:endParaRPr lang="en-US" sz="1050" dirty="0"/>
          </a:p>
        </p:txBody>
      </p:sp>
      <p:sp>
        <p:nvSpPr>
          <p:cNvPr id="7" name="pt 1"/>
          <p:cNvSpPr/>
          <p:nvPr/>
        </p:nvSpPr>
        <p:spPr>
          <a:xfrm>
            <a:off x="2788920" y="2286000"/>
            <a:ext cx="2057400" cy="1051560"/>
          </a:xfrm>
          <a:prstGeom prst="roundRect">
            <a:avLst>
              <a:gd name="adj" fmla="val 8696"/>
            </a:avLst>
          </a:prstGeom>
          <a:solidFill>
            <a:srgbClr val="37203D"/>
          </a:solidFill>
          <a:ln w="12700">
            <a:solidFill>
              <a:srgbClr val="37203D"/>
            </a:solidFill>
            <a:prstDash val="solid"/>
          </a:ln>
        </p:spPr>
      </p:sp>
      <p:pic>
        <p:nvPicPr>
          <p:cNvPr id="8" name="pl 1" descr="D:\temp\pptbuild\assets\logo_afas.png">    </p:cNvPr>
          <p:cNvPicPr>
            <a:picLocks noChangeAspect="1"/>
          </p:cNvPicPr>
          <p:nvPr/>
        </p:nvPicPr>
        <p:blipFill>
          <a:blip r:embed="rId2"/>
          <a:stretch>
            <a:fillRect/>
          </a:stretch>
        </p:blipFill>
        <p:spPr>
          <a:xfrm>
            <a:off x="3005051" y="2423160"/>
            <a:ext cx="1625138" cy="777240"/>
          </a:xfrm>
          <a:prstGeom prst="rect">
            <a:avLst/>
          </a:prstGeom>
        </p:spPr>
      </p:pic>
      <p:sp>
        <p:nvSpPr>
          <p:cNvPr id="9" name="pn 1"/>
          <p:cNvSpPr txBox="1"/>
          <p:nvPr/>
        </p:nvSpPr>
        <p:spPr>
          <a:xfrm>
            <a:off x="2788920" y="3401568"/>
            <a:ext cx="2057400" cy="502920"/>
          </a:xfrm>
          <a:prstGeom prst="rect">
            <a:avLst/>
          </a:prstGeom>
          <a:noFill/>
          <a:ln/>
        </p:spPr>
        <p:txBody>
          <a:bodyPr wrap="square" lIns="0" tIns="0" rIns="0" bIns="0" rtlCol="0" anchor="t"/>
          <a:lstStyle/>
          <a:p>
            <a:pPr algn="ctr" indent="0" marL="0">
              <a:buNone/>
            </a:pPr>
            <a:r>
              <a:rPr lang="en-US" sz="1050" dirty="0">
                <a:solidFill>
                  <a:schemeClr val="bg1"/>
                </a:solidFill>
                <a:latin typeface="Calibri" pitchFamily="34" charset="0"/>
                <a:ea typeface="Calibri" pitchFamily="34" charset="-122"/>
                <a:cs typeface="Calibri" pitchFamily="34" charset="-120"/>
              </a:rPr>
              <a:t>African Astronomical Society</a:t>
            </a:r>
            <a:endParaRPr lang="en-US" sz="1050" dirty="0"/>
          </a:p>
        </p:txBody>
      </p:sp>
      <p:sp>
        <p:nvSpPr>
          <p:cNvPr id="10" name="pt 2"/>
          <p:cNvSpPr/>
          <p:nvPr/>
        </p:nvSpPr>
        <p:spPr>
          <a:xfrm>
            <a:off x="5029200" y="2286000"/>
            <a:ext cx="2057400" cy="1051560"/>
          </a:xfrm>
          <a:prstGeom prst="roundRect">
            <a:avLst>
              <a:gd name="adj" fmla="val 8696"/>
            </a:avLst>
          </a:prstGeom>
          <a:solidFill>
            <a:srgbClr val="37203D"/>
          </a:solidFill>
          <a:ln w="12700">
            <a:solidFill>
              <a:srgbClr val="37203D"/>
            </a:solidFill>
            <a:prstDash val="solid"/>
          </a:ln>
        </p:spPr>
      </p:sp>
      <p:pic>
        <p:nvPicPr>
          <p:cNvPr id="11" name="pl 2" descr="D:\temp\pptbuild\assets\logo_oad.png">    </p:cNvPr>
          <p:cNvPicPr>
            <a:picLocks noChangeAspect="1"/>
          </p:cNvPicPr>
          <p:nvPr/>
        </p:nvPicPr>
        <p:blipFill>
          <a:blip r:embed="rId3"/>
          <a:stretch>
            <a:fillRect/>
          </a:stretch>
        </p:blipFill>
        <p:spPr>
          <a:xfrm>
            <a:off x="5656326" y="2423160"/>
            <a:ext cx="803148" cy="777240"/>
          </a:xfrm>
          <a:prstGeom prst="rect">
            <a:avLst/>
          </a:prstGeom>
        </p:spPr>
      </p:pic>
      <p:sp>
        <p:nvSpPr>
          <p:cNvPr id="12" name="pn 2"/>
          <p:cNvSpPr txBox="1"/>
          <p:nvPr/>
        </p:nvSpPr>
        <p:spPr>
          <a:xfrm>
            <a:off x="5029200" y="3401568"/>
            <a:ext cx="2057400" cy="502920"/>
          </a:xfrm>
          <a:prstGeom prst="rect">
            <a:avLst/>
          </a:prstGeom>
          <a:noFill/>
          <a:ln/>
        </p:spPr>
        <p:txBody>
          <a:bodyPr wrap="square" lIns="0" tIns="0" rIns="0" bIns="0" rtlCol="0" anchor="t"/>
          <a:lstStyle/>
          <a:p>
            <a:pPr algn="ctr" indent="0" marL="0">
              <a:buNone/>
            </a:pPr>
            <a:r>
              <a:rPr lang="en-US" sz="1050" dirty="0">
                <a:solidFill>
                  <a:schemeClr val="bg1"/>
                </a:solidFill>
                <a:latin typeface="Calibri" pitchFamily="34" charset="0"/>
                <a:ea typeface="Calibri" pitchFamily="34" charset="-122"/>
                <a:cs typeface="Calibri" pitchFamily="34" charset="-120"/>
              </a:rPr>
              <a:t>IAU Office of Astronomy for Development</a:t>
            </a:r>
            <a:endParaRPr lang="en-US" sz="1050" dirty="0"/>
          </a:p>
        </p:txBody>
      </p:sp>
      <p:sp>
        <p:nvSpPr>
          <p:cNvPr id="13" name="pt 3"/>
          <p:cNvSpPr/>
          <p:nvPr/>
        </p:nvSpPr>
        <p:spPr>
          <a:xfrm>
            <a:off x="7269480" y="2286000"/>
            <a:ext cx="2057400" cy="1051560"/>
          </a:xfrm>
          <a:prstGeom prst="roundRect">
            <a:avLst>
              <a:gd name="adj" fmla="val 8696"/>
            </a:avLst>
          </a:prstGeom>
          <a:solidFill>
            <a:srgbClr val="37203D"/>
          </a:solidFill>
          <a:ln w="12700">
            <a:solidFill>
              <a:srgbClr val="37203D"/>
            </a:solidFill>
            <a:prstDash val="solid"/>
          </a:ln>
        </p:spPr>
      </p:sp>
      <p:pic>
        <p:nvPicPr>
          <p:cNvPr id="14" name="pl 3" descr="D:\temp\pptbuild\assets\logo_idia.png">    </p:cNvPr>
          <p:cNvPicPr>
            <a:picLocks noChangeAspect="1"/>
          </p:cNvPicPr>
          <p:nvPr/>
        </p:nvPicPr>
        <p:blipFill>
          <a:blip r:embed="rId4"/>
          <a:stretch>
            <a:fillRect/>
          </a:stretch>
        </p:blipFill>
        <p:spPr>
          <a:xfrm>
            <a:off x="7743009" y="2423160"/>
            <a:ext cx="1110343" cy="777240"/>
          </a:xfrm>
          <a:prstGeom prst="rect">
            <a:avLst/>
          </a:prstGeom>
        </p:spPr>
      </p:pic>
      <p:sp>
        <p:nvSpPr>
          <p:cNvPr id="15" name="pn 3"/>
          <p:cNvSpPr txBox="1"/>
          <p:nvPr/>
        </p:nvSpPr>
        <p:spPr>
          <a:xfrm>
            <a:off x="7269480" y="3401568"/>
            <a:ext cx="2057400" cy="502920"/>
          </a:xfrm>
          <a:prstGeom prst="rect">
            <a:avLst/>
          </a:prstGeom>
          <a:noFill/>
          <a:ln/>
        </p:spPr>
        <p:txBody>
          <a:bodyPr wrap="square" lIns="0" tIns="0" rIns="0" bIns="0" rtlCol="0" anchor="t"/>
          <a:lstStyle/>
          <a:p>
            <a:pPr algn="ctr" indent="0" marL="0">
              <a:buNone/>
            </a:pPr>
            <a:r>
              <a:rPr lang="en-US" sz="1050" dirty="0">
                <a:solidFill>
                  <a:schemeClr val="bg1"/>
                </a:solidFill>
                <a:latin typeface="Calibri" pitchFamily="34" charset="0"/>
                <a:ea typeface="Calibri" pitchFamily="34" charset="-122"/>
                <a:cs typeface="Calibri" pitchFamily="34" charset="-120"/>
              </a:rPr>
              <a:t>Inter-University Institute for Data Intensive Astronomy</a:t>
            </a:r>
            <a:endParaRPr lang="en-US" sz="1050" dirty="0"/>
          </a:p>
        </p:txBody>
      </p:sp>
      <p:sp>
        <p:nvSpPr>
          <p:cNvPr id="16" name="pt 4"/>
          <p:cNvSpPr/>
          <p:nvPr/>
        </p:nvSpPr>
        <p:spPr>
          <a:xfrm>
            <a:off x="9509760" y="2286000"/>
            <a:ext cx="2057400" cy="1051560"/>
          </a:xfrm>
          <a:prstGeom prst="roundRect">
            <a:avLst>
              <a:gd name="adj" fmla="val 8696"/>
            </a:avLst>
          </a:prstGeom>
          <a:solidFill>
            <a:srgbClr val="37203D"/>
          </a:solidFill>
          <a:ln w="12700">
            <a:solidFill>
              <a:srgbClr val="37203D"/>
            </a:solidFill>
            <a:prstDash val="solid"/>
          </a:ln>
        </p:spPr>
      </p:sp>
      <p:pic>
        <p:nvPicPr>
          <p:cNvPr id="17" name="pl 4" descr="D:\temp\pptbuild\assets\logo_dara.png">    </p:cNvPr>
          <p:cNvPicPr>
            <a:picLocks noChangeAspect="1"/>
          </p:cNvPicPr>
          <p:nvPr/>
        </p:nvPicPr>
        <p:blipFill>
          <a:blip r:embed="rId5"/>
          <a:stretch>
            <a:fillRect/>
          </a:stretch>
        </p:blipFill>
        <p:spPr>
          <a:xfrm>
            <a:off x="9838944" y="2423160"/>
            <a:ext cx="1399032" cy="777240"/>
          </a:xfrm>
          <a:prstGeom prst="rect">
            <a:avLst/>
          </a:prstGeom>
        </p:spPr>
      </p:pic>
      <p:sp>
        <p:nvSpPr>
          <p:cNvPr id="18" name="pn 4"/>
          <p:cNvSpPr txBox="1"/>
          <p:nvPr/>
        </p:nvSpPr>
        <p:spPr>
          <a:xfrm>
            <a:off x="9509760" y="3401568"/>
            <a:ext cx="2057400" cy="502920"/>
          </a:xfrm>
          <a:prstGeom prst="rect">
            <a:avLst/>
          </a:prstGeom>
          <a:noFill/>
          <a:ln/>
        </p:spPr>
        <p:txBody>
          <a:bodyPr wrap="square" lIns="0" tIns="0" rIns="0" bIns="0" rtlCol="0" anchor="t"/>
          <a:lstStyle/>
          <a:p>
            <a:pPr algn="ctr" indent="0" marL="0">
              <a:buNone/>
            </a:pPr>
            <a:r>
              <a:rPr lang="en-US" sz="1050" dirty="0">
                <a:solidFill>
                  <a:schemeClr val="bg1"/>
                </a:solidFill>
                <a:latin typeface="Calibri" pitchFamily="34" charset="0"/>
                <a:ea typeface="Calibri" pitchFamily="34" charset="-122"/>
                <a:cs typeface="Calibri" pitchFamily="34" charset="-120"/>
              </a:rPr>
              <a:t>Development in Africa with Radio Astronomy</a:t>
            </a:r>
            <a:endParaRPr lang="en-US" sz="1050" dirty="0"/>
          </a:p>
        </p:txBody>
      </p:sp>
    </p:spTree>
  </p:cSld>
  <p:clrMapOvr>
    <a:masterClrMapping/>
  </p:clrMapOvr>
</p:sld>
</file>

<file path=ppt/theme/theme1.xml><?xml version="1.0" encoding="utf-8"?>
<a:theme xmlns:a="http://schemas.openxmlformats.org/drawingml/2006/main" name="Group 2 City Night">
  <a:themeElements>
    <a:clrScheme name="Group 2 City Night">
      <a:dk1>
        <a:srgbClr val="0A0F2C"/>
      </a:dk1>
      <a:lt1>
        <a:srgbClr val="FFFFFF"/>
      </a:lt1>
      <a:dk2>
        <a:srgbClr val="141A3F"/>
      </a:dk2>
      <a:lt2>
        <a:srgbClr val="C9D3F5"/>
      </a:lt2>
      <a:accent1>
        <a:srgbClr val="F2B33D"/>
      </a:accent1>
      <a:accent2>
        <a:srgbClr val="5CC8F0"/>
      </a:accent2>
      <a:accent3>
        <a:srgbClr val="9D7BFF"/>
      </a:accent3>
      <a:accent4>
        <a:srgbClr val="E85D75"/>
      </a:accent4>
      <a:accent5>
        <a:srgbClr val="6EE7B7"/>
      </a:accent5>
      <a:accent6>
        <a:srgbClr val="8A94B8"/>
      </a:accent6>
      <a:hlink>
        <a:srgbClr val="5CC8F0"/>
      </a:hlink>
      <a:folHlink>
        <a:srgbClr val="9D7BFF"/>
      </a:folHlink>
    </a:clrScheme>
    <a:fontScheme name="Group 2 City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ZAS Data Science Regional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Age Classification — Group 2</dc:title>
  <dc:subject>PptxGenJS Presentation</dc:subject>
  <dc:creator>Group 2</dc:creator>
  <cp:lastModifiedBy>Group 2</cp:lastModifiedBy>
  <cp:revision>1</cp:revision>
  <dcterms:created xsi:type="dcterms:W3CDTF">2026-10-08T06:10:45Z</dcterms:created>
  <dcterms:modified xsi:type="dcterms:W3CDTF">2026-10-08T06:10:45Z</dcterms:modified>
</cp:coreProperties>
</file>